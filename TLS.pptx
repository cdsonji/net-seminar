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notesSlides/notesSlide1.xml" ContentType="application/vnd.openxmlformats-officedocument.presentationml.notesSlide+xml"/>
  <Override PartName="/ppt/theme/themeOverride17.xml" ContentType="application/vnd.openxmlformats-officedocument.themeOverride+xml"/>
  <Override PartName="/ppt/theme/themeOverride18.xml" ContentType="application/vnd.openxmlformats-officedocument.themeOverride+xml"/>
  <Override PartName="/ppt/notesSlides/notesSlide2.xml" ContentType="application/vnd.openxmlformats-officedocument.presentationml.notesSlide+xml"/>
  <Override PartName="/ppt/theme/themeOverride19.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0" r:id="rId2"/>
  </p:sldMasterIdLst>
  <p:notesMasterIdLst>
    <p:notesMasterId r:id="rId4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E0FA82-234A-499B-94DF-563F5E03E377}">
          <p14:sldIdLst>
            <p14:sldId id="256"/>
            <p14:sldId id="257"/>
          </p14:sldIdLst>
        </p14:section>
        <p14:section name="What is Network Security?" id="{8707E9D7-17D4-4473-B996-DEF9FED7EEFA}">
          <p14:sldIdLst>
            <p14:sldId id="258"/>
            <p14:sldId id="259"/>
            <p14:sldId id="260"/>
            <p14:sldId id="261"/>
            <p14:sldId id="262"/>
            <p14:sldId id="263"/>
            <p14:sldId id="264"/>
          </p14:sldIdLst>
        </p14:section>
        <p14:section name="Principles of Cryptography" id="{C94A1188-B39F-43DA-BC90-E7A7ABFC208D}">
          <p14:sldIdLst>
            <p14:sldId id="265"/>
            <p14:sldId id="266"/>
            <p14:sldId id="267"/>
            <p14:sldId id="268"/>
            <p14:sldId id="269"/>
            <p14:sldId id="270"/>
            <p14:sldId id="271"/>
            <p14:sldId id="272"/>
            <p14:sldId id="273"/>
            <p14:sldId id="274"/>
            <p14:sldId id="275"/>
            <p14:sldId id="276"/>
            <p14:sldId id="277"/>
            <p14:sldId id="278"/>
            <p14:sldId id="279"/>
            <p14:sldId id="280"/>
            <p14:sldId id="281"/>
          </p14:sldIdLst>
        </p14:section>
        <p14:section name="Message Integrity and Digital Signatures" id="{CE33E389-59BB-43E6-80E4-99C1B1C8D773}">
          <p14:sldIdLst>
            <p14:sldId id="282"/>
            <p14:sldId id="283"/>
            <p14:sldId id="284"/>
            <p14:sldId id="285"/>
            <p14:sldId id="286"/>
            <p14:sldId id="287"/>
            <p14:sldId id="288"/>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61" autoAdjust="0"/>
    <p:restoredTop sz="94690" autoAdjust="0"/>
  </p:normalViewPr>
  <p:slideViewPr>
    <p:cSldViewPr snapToGrid="0">
      <p:cViewPr varScale="1">
        <p:scale>
          <a:sx n="81" d="100"/>
          <a:sy n="81" d="100"/>
        </p:scale>
        <p:origin x="811" y="5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2C1E28-4850-40A3-8B1C-AB5C3E19CFA4}" type="datetimeFigureOut">
              <a:rPr lang="en-US" smtClean="0"/>
              <a:t>2/16/2026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9BCCC5-7F16-4E90-AEDC-210626B03759}" type="slidenum">
              <a:rPr lang="en-US" smtClean="0"/>
              <a:t>‹#›</a:t>
            </a:fld>
            <a:endParaRPr lang="en-US"/>
          </a:p>
        </p:txBody>
      </p:sp>
    </p:spTree>
    <p:extLst>
      <p:ext uri="{BB962C8B-B14F-4D97-AF65-F5344CB8AC3E}">
        <p14:creationId xmlns:p14="http://schemas.microsoft.com/office/powerpoint/2010/main" val="42178639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9BCCC5-7F16-4E90-AEDC-210626B03759}" type="slidenum">
              <a:rPr lang="en-US" smtClean="0"/>
              <a:t>35</a:t>
            </a:fld>
            <a:endParaRPr lang="en-US"/>
          </a:p>
        </p:txBody>
      </p:sp>
    </p:spTree>
    <p:extLst>
      <p:ext uri="{BB962C8B-B14F-4D97-AF65-F5344CB8AC3E}">
        <p14:creationId xmlns:p14="http://schemas.microsoft.com/office/powerpoint/2010/main" val="161430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C9BCCC5-7F16-4E90-AEDC-210626B03759}" type="slidenum">
              <a:rPr lang="en-US" smtClean="0"/>
              <a:t>37</a:t>
            </a:fld>
            <a:endParaRPr lang="en-US"/>
          </a:p>
        </p:txBody>
      </p:sp>
    </p:spTree>
    <p:extLst>
      <p:ext uri="{BB962C8B-B14F-4D97-AF65-F5344CB8AC3E}">
        <p14:creationId xmlns:p14="http://schemas.microsoft.com/office/powerpoint/2010/main" val="13744324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559D4BB-A0F9-4B27-80E6-E5E59F9288D1}" type="datetimeFigureOut">
              <a:rPr lang="en-US" smtClean="0"/>
              <a:t>2/16/2026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152312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9D4BB-A0F9-4B27-80E6-E5E59F9288D1}"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1034856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9D4BB-A0F9-4B27-80E6-E5E59F9288D1}"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2568983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1139761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59D4BB-A0F9-4B27-80E6-E5E59F9288D1}"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1255785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59D4BB-A0F9-4B27-80E6-E5E59F9288D1}"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4252203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9D4BB-A0F9-4B27-80E6-E5E59F9288D1}"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3768135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3858228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3153300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1280946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2022071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697240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19616650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59D4BB-A0F9-4B27-80E6-E5E59F9288D1}"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2925368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59D4BB-A0F9-4B27-80E6-E5E59F9288D1}"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23102054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9D4BB-A0F9-4B27-80E6-E5E59F9288D1}"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44773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9D4BB-A0F9-4B27-80E6-E5E59F9288D1}"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2590542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559D4BB-A0F9-4B27-80E6-E5E59F9288D1}" type="datetimeFigureOut">
              <a:rPr lang="en-US" smtClean="0"/>
              <a:t>2/16/2026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895808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9D4BB-A0F9-4B27-80E6-E5E59F9288D1}"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17363612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59D4BB-A0F9-4B27-80E6-E5E59F9288D1}"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42850306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689236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59D4BB-A0F9-4B27-80E6-E5E59F9288D1}"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12006004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59D4BB-A0F9-4B27-80E6-E5E59F9288D1}"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11189872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9D4BB-A0F9-4B27-80E6-E5E59F9288D1}"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36276091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23389291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3851367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36117546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2585325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967768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59D4BB-A0F9-4B27-80E6-E5E59F9288D1}"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4097372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59D4BB-A0F9-4B27-80E6-E5E59F9288D1}"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29890374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59D4BB-A0F9-4B27-80E6-E5E59F9288D1}"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41116144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9D4BB-A0F9-4B27-80E6-E5E59F9288D1}"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10949490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59D4BB-A0F9-4B27-80E6-E5E59F9288D1}"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91F1B5-990D-4D37-8238-8EF7CE42EEC5}" type="slidenum">
              <a:rPr lang="en-US" smtClean="0"/>
              <a:t>‹#›</a:t>
            </a:fld>
            <a:endParaRPr lang="en-US"/>
          </a:p>
        </p:txBody>
      </p:sp>
    </p:spTree>
    <p:extLst>
      <p:ext uri="{BB962C8B-B14F-4D97-AF65-F5344CB8AC3E}">
        <p14:creationId xmlns:p14="http://schemas.microsoft.com/office/powerpoint/2010/main" val="3372892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2.pn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559D4BB-A0F9-4B27-80E6-E5E59F9288D1}" type="datetimeFigureOut">
              <a:rPr lang="en-US" smtClean="0"/>
              <a:t>2/16/2026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B91F1B5-990D-4D37-8238-8EF7CE42EEC5}" type="slidenum">
              <a:rPr lang="en-US" smtClean="0"/>
              <a:t>‹#›</a:t>
            </a:fld>
            <a:endParaRPr lang="en-US"/>
          </a:p>
        </p:txBody>
      </p:sp>
    </p:spTree>
    <p:extLst>
      <p:ext uri="{BB962C8B-B14F-4D97-AF65-F5344CB8AC3E}">
        <p14:creationId xmlns:p14="http://schemas.microsoft.com/office/powerpoint/2010/main" val="1356271914"/>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559D4BB-A0F9-4B27-80E6-E5E59F9288D1}" type="datetimeFigureOut">
              <a:rPr lang="en-US" smtClean="0"/>
              <a:t>2/16/2026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B91F1B5-990D-4D37-8238-8EF7CE42EEC5}" type="slidenum">
              <a:rPr lang="en-US" smtClean="0"/>
              <a:t>‹#›</a:t>
            </a:fld>
            <a:endParaRPr lang="en-US"/>
          </a:p>
        </p:txBody>
      </p:sp>
    </p:spTree>
    <p:extLst>
      <p:ext uri="{BB962C8B-B14F-4D97-AF65-F5344CB8AC3E}">
        <p14:creationId xmlns:p14="http://schemas.microsoft.com/office/powerpoint/2010/main" val="845272253"/>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hemeOverride" Target="../theme/themeOverride13.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hemeOverride" Target="../theme/themeOverride14.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hemeOverride" Target="../theme/themeOverride15.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7.xml"/><Relationship Id="rId1" Type="http://schemas.openxmlformats.org/officeDocument/2006/relationships/themeOverride" Target="../theme/themeOverride1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8.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hemeOverride" Target="../theme/themeOverr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ED2DB-3CE2-7D76-32C7-BE5AA0181812}"/>
              </a:ext>
            </a:extLst>
          </p:cNvPr>
          <p:cNvSpPr>
            <a:spLocks noGrp="1"/>
          </p:cNvSpPr>
          <p:nvPr>
            <p:ph type="ctrTitle"/>
          </p:nvPr>
        </p:nvSpPr>
        <p:spPr>
          <a:xfrm>
            <a:off x="1700212" y="1112363"/>
            <a:ext cx="8791575" cy="2387600"/>
          </a:xfrm>
        </p:spPr>
        <p:txBody>
          <a:bodyPr>
            <a:normAutofit/>
          </a:bodyPr>
          <a:lstStyle/>
          <a:p>
            <a:pPr algn="ctr"/>
            <a:r>
              <a:rPr lang="en-US" sz="16600" dirty="0"/>
              <a:t>TLS</a:t>
            </a:r>
            <a:endParaRPr lang="en-US" sz="6000" dirty="0"/>
          </a:p>
        </p:txBody>
      </p:sp>
      <p:sp>
        <p:nvSpPr>
          <p:cNvPr id="3" name="Subtitle 2">
            <a:extLst>
              <a:ext uri="{FF2B5EF4-FFF2-40B4-BE49-F238E27FC236}">
                <a16:creationId xmlns:a16="http://schemas.microsoft.com/office/drawing/2014/main" id="{11BD4770-E8F2-0D6D-EE28-AC76EC5B5815}"/>
              </a:ext>
            </a:extLst>
          </p:cNvPr>
          <p:cNvSpPr>
            <a:spLocks noGrp="1"/>
          </p:cNvSpPr>
          <p:nvPr>
            <p:ph type="subTitle" idx="1"/>
          </p:nvPr>
        </p:nvSpPr>
        <p:spPr>
          <a:xfrm>
            <a:off x="1876423" y="3950829"/>
            <a:ext cx="8791575" cy="1655762"/>
          </a:xfrm>
        </p:spPr>
        <p:txBody>
          <a:bodyPr>
            <a:normAutofit/>
          </a:bodyPr>
          <a:lstStyle/>
          <a:p>
            <a:pPr algn="ctr"/>
            <a:r>
              <a:rPr lang="en-US" sz="4000" dirty="0"/>
              <a:t>Transport layer security</a:t>
            </a:r>
          </a:p>
        </p:txBody>
      </p:sp>
    </p:spTree>
    <p:extLst>
      <p:ext uri="{BB962C8B-B14F-4D97-AF65-F5344CB8AC3E}">
        <p14:creationId xmlns:p14="http://schemas.microsoft.com/office/powerpoint/2010/main" val="3520210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A8874-C560-03ED-9FA4-596635DA6500}"/>
              </a:ext>
            </a:extLst>
          </p:cNvPr>
          <p:cNvSpPr>
            <a:spLocks noGrp="1"/>
          </p:cNvSpPr>
          <p:nvPr>
            <p:ph type="title"/>
          </p:nvPr>
        </p:nvSpPr>
        <p:spPr/>
        <p:txBody>
          <a:bodyPr/>
          <a:lstStyle/>
          <a:p>
            <a:r>
              <a:rPr lang="en-US" dirty="0"/>
              <a:t>contents</a:t>
            </a:r>
          </a:p>
        </p:txBody>
      </p:sp>
      <p:sp>
        <p:nvSpPr>
          <p:cNvPr id="3" name="Content Placeholder 2">
            <a:extLst>
              <a:ext uri="{FF2B5EF4-FFF2-40B4-BE49-F238E27FC236}">
                <a16:creationId xmlns:a16="http://schemas.microsoft.com/office/drawing/2014/main" id="{195804B3-925E-428C-CE81-6AFCB056B290}"/>
              </a:ext>
            </a:extLst>
          </p:cNvPr>
          <p:cNvSpPr>
            <a:spLocks noGrp="1"/>
          </p:cNvSpPr>
          <p:nvPr>
            <p:ph idx="1"/>
          </p:nvPr>
        </p:nvSpPr>
        <p:spPr/>
        <p:txBody>
          <a:bodyPr/>
          <a:lstStyle/>
          <a:p>
            <a:pPr marL="457200" indent="-457200">
              <a:buFont typeface="+mj-lt"/>
              <a:buAutoNum type="arabicPeriod"/>
            </a:pPr>
            <a:r>
              <a:rPr lang="en-US" dirty="0"/>
              <a:t>What is Network Security?</a:t>
            </a:r>
          </a:p>
          <a:p>
            <a:pPr marL="457200" indent="-457200">
              <a:buFont typeface="+mj-lt"/>
              <a:buAutoNum type="arabicPeriod"/>
            </a:pPr>
            <a:r>
              <a:rPr lang="en-US" dirty="0"/>
              <a:t>Principles of Cryptography</a:t>
            </a:r>
          </a:p>
          <a:p>
            <a:pPr marL="457200" indent="-457200">
              <a:buFont typeface="+mj-lt"/>
              <a:buAutoNum type="arabicPeriod"/>
            </a:pPr>
            <a:r>
              <a:rPr lang="en-US" dirty="0"/>
              <a:t>Message Integrity and Digital Signatures</a:t>
            </a:r>
          </a:p>
          <a:p>
            <a:pPr marL="457200" indent="-457200">
              <a:buFont typeface="+mj-lt"/>
              <a:buAutoNum type="arabicPeriod"/>
            </a:pPr>
            <a:r>
              <a:rPr lang="en-US" dirty="0"/>
              <a:t>End-Point Authentication</a:t>
            </a:r>
          </a:p>
          <a:p>
            <a:pPr marL="457200" indent="-457200">
              <a:buFont typeface="+mj-lt"/>
              <a:buAutoNum type="arabicPeriod"/>
            </a:pPr>
            <a:r>
              <a:rPr lang="en-US" dirty="0"/>
              <a:t>Securing TCP Connections: TLS</a:t>
            </a:r>
          </a:p>
        </p:txBody>
      </p:sp>
    </p:spTree>
    <p:extLst>
      <p:ext uri="{BB962C8B-B14F-4D97-AF65-F5344CB8AC3E}">
        <p14:creationId xmlns:p14="http://schemas.microsoft.com/office/powerpoint/2010/main" val="276811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5F93D-140B-96B1-FD5B-38A920079E91}"/>
              </a:ext>
            </a:extLst>
          </p:cNvPr>
          <p:cNvSpPr>
            <a:spLocks noGrp="1"/>
          </p:cNvSpPr>
          <p:nvPr>
            <p:ph type="title"/>
          </p:nvPr>
        </p:nvSpPr>
        <p:spPr/>
        <p:txBody>
          <a:bodyPr/>
          <a:lstStyle/>
          <a:p>
            <a:r>
              <a:rPr lang="en-US" dirty="0"/>
              <a:t>1. What is network security?</a:t>
            </a:r>
          </a:p>
        </p:txBody>
      </p:sp>
      <p:sp>
        <p:nvSpPr>
          <p:cNvPr id="3" name="Content Placeholder 2">
            <a:extLst>
              <a:ext uri="{FF2B5EF4-FFF2-40B4-BE49-F238E27FC236}">
                <a16:creationId xmlns:a16="http://schemas.microsoft.com/office/drawing/2014/main" id="{FB493F7B-E389-C5E0-6196-58873FE5D843}"/>
              </a:ext>
            </a:extLst>
          </p:cNvPr>
          <p:cNvSpPr>
            <a:spLocks noGrp="1"/>
          </p:cNvSpPr>
          <p:nvPr>
            <p:ph idx="1"/>
          </p:nvPr>
        </p:nvSpPr>
        <p:spPr/>
        <p:txBody>
          <a:bodyPr/>
          <a:lstStyle/>
          <a:p>
            <a:pPr marL="0" indent="0">
              <a:buNone/>
            </a:pPr>
            <a:r>
              <a:rPr lang="en-US" u="sng" dirty="0"/>
              <a:t>EXAMPLE</a:t>
            </a:r>
            <a:r>
              <a:rPr lang="en-US" dirty="0"/>
              <a:t>  Alice and Bob are two lovers who want to communicate securely.</a:t>
            </a:r>
          </a:p>
          <a:p>
            <a:pPr marL="0" indent="0">
              <a:buNone/>
            </a:pPr>
            <a:r>
              <a:rPr lang="en-US" dirty="0"/>
              <a:t>What does that mean?</a:t>
            </a:r>
          </a:p>
        </p:txBody>
      </p:sp>
      <p:pic>
        <p:nvPicPr>
          <p:cNvPr id="5" name="Picture 4">
            <a:extLst>
              <a:ext uri="{FF2B5EF4-FFF2-40B4-BE49-F238E27FC236}">
                <a16:creationId xmlns:a16="http://schemas.microsoft.com/office/drawing/2014/main" id="{C7D12434-2C22-5B8D-4777-13C5177A8B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3743" y="4082208"/>
            <a:ext cx="1212364" cy="1708994"/>
          </a:xfrm>
          <a:prstGeom prst="rect">
            <a:avLst/>
          </a:prstGeom>
        </p:spPr>
      </p:pic>
      <p:pic>
        <p:nvPicPr>
          <p:cNvPr id="7" name="Picture 6">
            <a:extLst>
              <a:ext uri="{FF2B5EF4-FFF2-40B4-BE49-F238E27FC236}">
                <a16:creationId xmlns:a16="http://schemas.microsoft.com/office/drawing/2014/main" id="{2493A4C4-B111-3429-CBE4-34FB5A870D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94777" y="4020344"/>
            <a:ext cx="1167813" cy="1708994"/>
          </a:xfrm>
          <a:prstGeom prst="rect">
            <a:avLst/>
          </a:prstGeom>
        </p:spPr>
      </p:pic>
      <p:pic>
        <p:nvPicPr>
          <p:cNvPr id="9" name="Picture 8">
            <a:extLst>
              <a:ext uri="{FF2B5EF4-FFF2-40B4-BE49-F238E27FC236}">
                <a16:creationId xmlns:a16="http://schemas.microsoft.com/office/drawing/2014/main" id="{455C1CCD-0C73-1648-DED4-2E9ED0CFA5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29145" y="3858348"/>
            <a:ext cx="1122593" cy="1870990"/>
          </a:xfrm>
          <a:prstGeom prst="rect">
            <a:avLst/>
          </a:prstGeom>
        </p:spPr>
      </p:pic>
    </p:spTree>
    <p:extLst>
      <p:ext uri="{BB962C8B-B14F-4D97-AF65-F5344CB8AC3E}">
        <p14:creationId xmlns:p14="http://schemas.microsoft.com/office/powerpoint/2010/main" val="3838982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E04A3-B508-5250-0585-9CD38D5695E6}"/>
              </a:ext>
            </a:extLst>
          </p:cNvPr>
          <p:cNvSpPr>
            <a:spLocks noGrp="1"/>
          </p:cNvSpPr>
          <p:nvPr>
            <p:ph type="title"/>
          </p:nvPr>
        </p:nvSpPr>
        <p:spPr/>
        <p:txBody>
          <a:bodyPr/>
          <a:lstStyle/>
          <a:p>
            <a:r>
              <a:rPr lang="en-US" dirty="0"/>
              <a:t>Principles of network security</a:t>
            </a:r>
          </a:p>
        </p:txBody>
      </p:sp>
      <p:sp>
        <p:nvSpPr>
          <p:cNvPr id="3" name="Content Placeholder 2">
            <a:extLst>
              <a:ext uri="{FF2B5EF4-FFF2-40B4-BE49-F238E27FC236}">
                <a16:creationId xmlns:a16="http://schemas.microsoft.com/office/drawing/2014/main" id="{52DDF860-9292-AB3F-69BE-5D5651A46010}"/>
              </a:ext>
            </a:extLst>
          </p:cNvPr>
          <p:cNvSpPr>
            <a:spLocks noGrp="1"/>
          </p:cNvSpPr>
          <p:nvPr>
            <p:ph idx="1"/>
          </p:nvPr>
        </p:nvSpPr>
        <p:spPr/>
        <p:txBody>
          <a:bodyPr>
            <a:normAutofit/>
          </a:bodyPr>
          <a:lstStyle/>
          <a:p>
            <a:r>
              <a:rPr lang="en-US" sz="2800" dirty="0"/>
              <a:t>Confidentiality</a:t>
            </a:r>
          </a:p>
          <a:p>
            <a:r>
              <a:rPr lang="en-US" sz="2800" dirty="0"/>
              <a:t>Message integrity</a:t>
            </a:r>
          </a:p>
          <a:p>
            <a:r>
              <a:rPr lang="en-US" sz="2800" dirty="0"/>
              <a:t>End-point authentication</a:t>
            </a:r>
          </a:p>
          <a:p>
            <a:r>
              <a:rPr lang="en-US" sz="2800" dirty="0"/>
              <a:t>Operational security</a:t>
            </a:r>
          </a:p>
        </p:txBody>
      </p:sp>
    </p:spTree>
    <p:extLst>
      <p:ext uri="{BB962C8B-B14F-4D97-AF65-F5344CB8AC3E}">
        <p14:creationId xmlns:p14="http://schemas.microsoft.com/office/powerpoint/2010/main" val="2205686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AC861-43CD-4314-D154-73A64D18CBE6}"/>
              </a:ext>
            </a:extLst>
          </p:cNvPr>
          <p:cNvSpPr>
            <a:spLocks noGrp="1"/>
          </p:cNvSpPr>
          <p:nvPr>
            <p:ph type="title"/>
          </p:nvPr>
        </p:nvSpPr>
        <p:spPr/>
        <p:txBody>
          <a:bodyPr/>
          <a:lstStyle/>
          <a:p>
            <a:r>
              <a:rPr lang="en-US" dirty="0"/>
              <a:t>Confidentiality</a:t>
            </a:r>
          </a:p>
        </p:txBody>
      </p:sp>
      <p:sp>
        <p:nvSpPr>
          <p:cNvPr id="3" name="Content Placeholder 2">
            <a:extLst>
              <a:ext uri="{FF2B5EF4-FFF2-40B4-BE49-F238E27FC236}">
                <a16:creationId xmlns:a16="http://schemas.microsoft.com/office/drawing/2014/main" id="{BE47C6F6-4335-6C5B-B3C8-AB4EC04CD426}"/>
              </a:ext>
            </a:extLst>
          </p:cNvPr>
          <p:cNvSpPr>
            <a:spLocks noGrp="1"/>
          </p:cNvSpPr>
          <p:nvPr>
            <p:ph idx="1"/>
          </p:nvPr>
        </p:nvSpPr>
        <p:spPr/>
        <p:txBody>
          <a:bodyPr/>
          <a:lstStyle/>
          <a:p>
            <a:pPr marL="0" indent="0">
              <a:buNone/>
            </a:pPr>
            <a:r>
              <a:rPr lang="en-US" dirty="0"/>
              <a:t>Only the sender and intended receiver should be able to understand the contents of the transmitted message. Because eavesdroppers may intercept the message, this necessarily requires that the message be somehow </a:t>
            </a:r>
            <a:r>
              <a:rPr lang="en-US" b="1" dirty="0"/>
              <a:t>encrypted</a:t>
            </a:r>
            <a:r>
              <a:rPr lang="en-US" dirty="0"/>
              <a:t> so that an intercepted message cannot be understood by an interceptor. This aspect of confidentiality is probably the most commonly perceived meaning of the term secure communication.</a:t>
            </a:r>
          </a:p>
        </p:txBody>
      </p:sp>
    </p:spTree>
    <p:extLst>
      <p:ext uri="{BB962C8B-B14F-4D97-AF65-F5344CB8AC3E}">
        <p14:creationId xmlns:p14="http://schemas.microsoft.com/office/powerpoint/2010/main" val="2964984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3C400-F342-C1FF-7B05-B14C3D75B6C5}"/>
              </a:ext>
            </a:extLst>
          </p:cNvPr>
          <p:cNvSpPr>
            <a:spLocks noGrp="1"/>
          </p:cNvSpPr>
          <p:nvPr>
            <p:ph type="title"/>
          </p:nvPr>
        </p:nvSpPr>
        <p:spPr/>
        <p:txBody>
          <a:bodyPr/>
          <a:lstStyle/>
          <a:p>
            <a:r>
              <a:rPr lang="en-US" dirty="0"/>
              <a:t>Message integrity</a:t>
            </a:r>
          </a:p>
        </p:txBody>
      </p:sp>
      <p:sp>
        <p:nvSpPr>
          <p:cNvPr id="3" name="Content Placeholder 2">
            <a:extLst>
              <a:ext uri="{FF2B5EF4-FFF2-40B4-BE49-F238E27FC236}">
                <a16:creationId xmlns:a16="http://schemas.microsoft.com/office/drawing/2014/main" id="{8EFFBB7F-D60D-0756-EFD1-6D11240B1A51}"/>
              </a:ext>
            </a:extLst>
          </p:cNvPr>
          <p:cNvSpPr>
            <a:spLocks noGrp="1"/>
          </p:cNvSpPr>
          <p:nvPr>
            <p:ph idx="1"/>
          </p:nvPr>
        </p:nvSpPr>
        <p:spPr/>
        <p:txBody>
          <a:bodyPr/>
          <a:lstStyle/>
          <a:p>
            <a:pPr marL="0" indent="0">
              <a:buNone/>
            </a:pPr>
            <a:r>
              <a:rPr lang="en-US" dirty="0"/>
              <a:t>Alice and Bob want to ensure that the content of their communication is not altered, either maliciously or by accident, in transit. Extensions to the </a:t>
            </a:r>
            <a:r>
              <a:rPr lang="en-US" dirty="0" err="1"/>
              <a:t>checksumming</a:t>
            </a:r>
            <a:r>
              <a:rPr lang="en-US" dirty="0"/>
              <a:t> techniques that have been encountered in reliable transport and data link protocols can be used to provide such message integrity. </a:t>
            </a:r>
          </a:p>
        </p:txBody>
      </p:sp>
    </p:spTree>
    <p:extLst>
      <p:ext uri="{BB962C8B-B14F-4D97-AF65-F5344CB8AC3E}">
        <p14:creationId xmlns:p14="http://schemas.microsoft.com/office/powerpoint/2010/main" val="427093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EC86E-07DD-6AF8-013A-BC35AD303560}"/>
              </a:ext>
            </a:extLst>
          </p:cNvPr>
          <p:cNvSpPr>
            <a:spLocks noGrp="1"/>
          </p:cNvSpPr>
          <p:nvPr>
            <p:ph type="title"/>
          </p:nvPr>
        </p:nvSpPr>
        <p:spPr/>
        <p:txBody>
          <a:bodyPr/>
          <a:lstStyle/>
          <a:p>
            <a:r>
              <a:rPr lang="en-US" dirty="0"/>
              <a:t>End-point authentication</a:t>
            </a:r>
          </a:p>
        </p:txBody>
      </p:sp>
      <p:sp>
        <p:nvSpPr>
          <p:cNvPr id="3" name="Content Placeholder 2">
            <a:extLst>
              <a:ext uri="{FF2B5EF4-FFF2-40B4-BE49-F238E27FC236}">
                <a16:creationId xmlns:a16="http://schemas.microsoft.com/office/drawing/2014/main" id="{3990F2BD-39E6-1F54-1A62-9C3232F4457F}"/>
              </a:ext>
            </a:extLst>
          </p:cNvPr>
          <p:cNvSpPr>
            <a:spLocks noGrp="1"/>
          </p:cNvSpPr>
          <p:nvPr>
            <p:ph idx="1"/>
          </p:nvPr>
        </p:nvSpPr>
        <p:spPr/>
        <p:txBody>
          <a:bodyPr/>
          <a:lstStyle/>
          <a:p>
            <a:pPr marL="0" indent="0">
              <a:buNone/>
            </a:pPr>
            <a:r>
              <a:rPr lang="en-US" dirty="0"/>
              <a:t>Both the sender and receiver should be able to confirm the identity of the other party involved in the communication—to confirm that the other party is indeed who or what they claim to be. Face-to-face human communication solves this problem easily by visual recognition. When communicating entities exchange messages over a medium where they cannot see the other party, authentication is not so simple.</a:t>
            </a:r>
          </a:p>
        </p:txBody>
      </p:sp>
    </p:spTree>
    <p:extLst>
      <p:ext uri="{BB962C8B-B14F-4D97-AF65-F5344CB8AC3E}">
        <p14:creationId xmlns:p14="http://schemas.microsoft.com/office/powerpoint/2010/main" val="4028125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E826D-F30D-0C3F-C802-BB4909527F8C}"/>
              </a:ext>
            </a:extLst>
          </p:cNvPr>
          <p:cNvSpPr>
            <a:spLocks noGrp="1"/>
          </p:cNvSpPr>
          <p:nvPr>
            <p:ph type="title"/>
          </p:nvPr>
        </p:nvSpPr>
        <p:spPr/>
        <p:txBody>
          <a:bodyPr/>
          <a:lstStyle/>
          <a:p>
            <a:r>
              <a:rPr lang="en-US" dirty="0"/>
              <a:t>Operational security</a:t>
            </a:r>
          </a:p>
        </p:txBody>
      </p:sp>
      <p:sp>
        <p:nvSpPr>
          <p:cNvPr id="3" name="Content Placeholder 2">
            <a:extLst>
              <a:ext uri="{FF2B5EF4-FFF2-40B4-BE49-F238E27FC236}">
                <a16:creationId xmlns:a16="http://schemas.microsoft.com/office/drawing/2014/main" id="{178CD15D-9A66-37E4-300E-3B11CF4C5EBE}"/>
              </a:ext>
            </a:extLst>
          </p:cNvPr>
          <p:cNvSpPr>
            <a:spLocks noGrp="1"/>
          </p:cNvSpPr>
          <p:nvPr>
            <p:ph idx="1"/>
          </p:nvPr>
        </p:nvSpPr>
        <p:spPr/>
        <p:txBody>
          <a:bodyPr>
            <a:normAutofit fontScale="92500" lnSpcReduction="10000"/>
          </a:bodyPr>
          <a:lstStyle/>
          <a:p>
            <a:pPr marL="0" indent="0">
              <a:buNone/>
            </a:pPr>
            <a:r>
              <a:rPr lang="en-US" dirty="0"/>
              <a:t>Almost all organizations (companies, universities, and so on) today have networks that are attached to the public Internet. These networks therefore can potentially be compromised. Attackers can attempt to deposit worms into the hosts in the network, obtain corporate secrets, map the internal network configurations, and launch DoS attacks. operational devices such as firewalls and intrusion detection systems are used to counter attacks against an organization’s network. A firewall sits between the organization’s network and the public network, controlling packet access to and from the network. An intrusion detection system performs “deep packet inspection,” alerting the network administrators about suspicious activity.</a:t>
            </a:r>
          </a:p>
        </p:txBody>
      </p:sp>
    </p:spTree>
    <p:extLst>
      <p:ext uri="{BB962C8B-B14F-4D97-AF65-F5344CB8AC3E}">
        <p14:creationId xmlns:p14="http://schemas.microsoft.com/office/powerpoint/2010/main" val="1024686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86816-4FD6-1A42-6498-C19B298E0FEA}"/>
              </a:ext>
            </a:extLst>
          </p:cNvPr>
          <p:cNvSpPr>
            <a:spLocks noGrp="1"/>
          </p:cNvSpPr>
          <p:nvPr>
            <p:ph type="title"/>
          </p:nvPr>
        </p:nvSpPr>
        <p:spPr/>
        <p:txBody>
          <a:bodyPr>
            <a:normAutofit/>
          </a:bodyPr>
          <a:lstStyle/>
          <a:p>
            <a:r>
              <a:rPr lang="en-US" sz="2400" dirty="0"/>
              <a:t>Information and actions an intruder can have access to</a:t>
            </a:r>
          </a:p>
        </p:txBody>
      </p:sp>
      <p:sp>
        <p:nvSpPr>
          <p:cNvPr id="3" name="Content Placeholder 2">
            <a:extLst>
              <a:ext uri="{FF2B5EF4-FFF2-40B4-BE49-F238E27FC236}">
                <a16:creationId xmlns:a16="http://schemas.microsoft.com/office/drawing/2014/main" id="{65DE7D86-7D49-DE89-D5D6-588D2751C2EB}"/>
              </a:ext>
            </a:extLst>
          </p:cNvPr>
          <p:cNvSpPr>
            <a:spLocks noGrp="1"/>
          </p:cNvSpPr>
          <p:nvPr>
            <p:ph idx="1"/>
          </p:nvPr>
        </p:nvSpPr>
        <p:spPr/>
        <p:txBody>
          <a:bodyPr>
            <a:normAutofit/>
          </a:bodyPr>
          <a:lstStyle/>
          <a:p>
            <a:r>
              <a:rPr lang="en-US" sz="2000" dirty="0"/>
              <a:t>eavesdropping—sniffing and recording control and data messages on the channel.</a:t>
            </a:r>
          </a:p>
          <a:p>
            <a:r>
              <a:rPr lang="en-US" sz="2000" dirty="0"/>
              <a:t>modification, insertion, or deletion of messages or message content.</a:t>
            </a:r>
            <a:endParaRPr lang="en-US" sz="2200" dirty="0"/>
          </a:p>
        </p:txBody>
      </p:sp>
      <p:pic>
        <p:nvPicPr>
          <p:cNvPr id="5" name="Picture 4">
            <a:extLst>
              <a:ext uri="{FF2B5EF4-FFF2-40B4-BE49-F238E27FC236}">
                <a16:creationId xmlns:a16="http://schemas.microsoft.com/office/drawing/2014/main" id="{1A2046D5-82BD-4F99-EBC6-8194EED886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2319" y="3762767"/>
            <a:ext cx="6264183" cy="2476715"/>
          </a:xfrm>
          <a:prstGeom prst="rect">
            <a:avLst/>
          </a:prstGeom>
        </p:spPr>
      </p:pic>
    </p:spTree>
    <p:extLst>
      <p:ext uri="{BB962C8B-B14F-4D97-AF65-F5344CB8AC3E}">
        <p14:creationId xmlns:p14="http://schemas.microsoft.com/office/powerpoint/2010/main" val="3923272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EFFA4-CB61-D5C8-3F5B-5D2A51CA25A5}"/>
              </a:ext>
            </a:extLst>
          </p:cNvPr>
          <p:cNvSpPr>
            <a:spLocks noGrp="1"/>
          </p:cNvSpPr>
          <p:nvPr>
            <p:ph type="title"/>
          </p:nvPr>
        </p:nvSpPr>
        <p:spPr/>
        <p:txBody>
          <a:bodyPr/>
          <a:lstStyle/>
          <a:p>
            <a:r>
              <a:rPr lang="en-US" dirty="0"/>
              <a:t>1. Principles of cryptography</a:t>
            </a:r>
          </a:p>
        </p:txBody>
      </p:sp>
      <p:sp>
        <p:nvSpPr>
          <p:cNvPr id="3" name="Content Placeholder 2">
            <a:extLst>
              <a:ext uri="{FF2B5EF4-FFF2-40B4-BE49-F238E27FC236}">
                <a16:creationId xmlns:a16="http://schemas.microsoft.com/office/drawing/2014/main" id="{B39B6FF7-314E-5049-0E30-8445DFD39006}"/>
              </a:ext>
            </a:extLst>
          </p:cNvPr>
          <p:cNvSpPr>
            <a:spLocks noGrp="1"/>
          </p:cNvSpPr>
          <p:nvPr>
            <p:ph idx="1"/>
          </p:nvPr>
        </p:nvSpPr>
        <p:spPr/>
        <p:txBody>
          <a:bodyPr/>
          <a:lstStyle/>
          <a:p>
            <a:r>
              <a:rPr lang="en-US" dirty="0"/>
              <a:t>Cryptographic techniques allow a sender to disguise data so that an intruder can gain no information from the intercepted data. The receiver, of course, must be able to recover the original data from the disguised data. </a:t>
            </a:r>
          </a:p>
          <a:p>
            <a:r>
              <a:rPr lang="en-US" dirty="0"/>
              <a:t>cryptographic techniques are inextricably woven into authentication, message integrity, nonrepudiation, and more.</a:t>
            </a:r>
          </a:p>
        </p:txBody>
      </p:sp>
    </p:spTree>
    <p:extLst>
      <p:ext uri="{BB962C8B-B14F-4D97-AF65-F5344CB8AC3E}">
        <p14:creationId xmlns:p14="http://schemas.microsoft.com/office/powerpoint/2010/main" val="1336822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A9BD1-DB45-7D4E-27DF-09E2C7BD71E9}"/>
              </a:ext>
            </a:extLst>
          </p:cNvPr>
          <p:cNvSpPr>
            <a:spLocks noGrp="1"/>
          </p:cNvSpPr>
          <p:nvPr>
            <p:ph type="title"/>
          </p:nvPr>
        </p:nvSpPr>
        <p:spPr>
          <a:xfrm>
            <a:off x="1141413" y="618518"/>
            <a:ext cx="9905998" cy="793187"/>
          </a:xfrm>
        </p:spPr>
        <p:txBody>
          <a:bodyPr/>
          <a:lstStyle/>
          <a:p>
            <a:r>
              <a:rPr lang="en-US" dirty="0"/>
              <a:t>Cryptographic expressions</a:t>
            </a:r>
          </a:p>
        </p:txBody>
      </p:sp>
      <p:pic>
        <p:nvPicPr>
          <p:cNvPr id="5" name="Content Placeholder 4">
            <a:extLst>
              <a:ext uri="{FF2B5EF4-FFF2-40B4-BE49-F238E27FC236}">
                <a16:creationId xmlns:a16="http://schemas.microsoft.com/office/drawing/2014/main" id="{D2A6A098-47CB-C3C0-EB5A-76EF0B62ED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95519" y="1597209"/>
            <a:ext cx="4698893" cy="2372068"/>
          </a:xfrm>
        </p:spPr>
      </p:pic>
      <p:sp>
        <p:nvSpPr>
          <p:cNvPr id="6" name="TextBox 5">
            <a:extLst>
              <a:ext uri="{FF2B5EF4-FFF2-40B4-BE49-F238E27FC236}">
                <a16:creationId xmlns:a16="http://schemas.microsoft.com/office/drawing/2014/main" id="{C1711DB7-89F7-0994-D186-E3D4592A8BF4}"/>
              </a:ext>
            </a:extLst>
          </p:cNvPr>
          <p:cNvSpPr txBox="1"/>
          <p:nvPr/>
        </p:nvSpPr>
        <p:spPr>
          <a:xfrm>
            <a:off x="6277051" y="1947202"/>
            <a:ext cx="4873658" cy="1754326"/>
          </a:xfrm>
          <a:prstGeom prst="rect">
            <a:avLst/>
          </a:prstGeom>
          <a:noFill/>
        </p:spPr>
        <p:txBody>
          <a:bodyPr wrap="square" rtlCol="0">
            <a:spAutoFit/>
          </a:bodyPr>
          <a:lstStyle/>
          <a:p>
            <a:pPr marL="285750" indent="-285750">
              <a:buFont typeface="Wingdings" panose="05000000000000000000" pitchFamily="2" charset="2"/>
              <a:buChar char="ü"/>
            </a:pPr>
            <a:r>
              <a:rPr lang="en-US" dirty="0"/>
              <a:t>Plaintext or cleartext: “Bob, I love you. Alice”</a:t>
            </a:r>
          </a:p>
          <a:p>
            <a:pPr marL="285750" indent="-285750">
              <a:buFont typeface="Wingdings" panose="05000000000000000000" pitchFamily="2" charset="2"/>
              <a:buChar char="ü"/>
            </a:pPr>
            <a:r>
              <a:rPr lang="en-US" dirty="0"/>
              <a:t>Alice encrypts the plaintext using an encryption algorithm.</a:t>
            </a:r>
          </a:p>
          <a:p>
            <a:pPr marL="285750" indent="-285750">
              <a:buFont typeface="Wingdings" panose="05000000000000000000" pitchFamily="2" charset="2"/>
              <a:buChar char="ü"/>
            </a:pPr>
            <a:r>
              <a:rPr lang="en-US" dirty="0"/>
              <a:t> the encrypted plaintext is called the ciphertext.</a:t>
            </a:r>
          </a:p>
          <a:p>
            <a:pPr marL="285750" indent="-285750">
              <a:buFont typeface="Wingdings" panose="05000000000000000000" pitchFamily="2" charset="2"/>
              <a:buChar char="ü"/>
            </a:pPr>
            <a:r>
              <a:rPr lang="en-US" dirty="0"/>
              <a:t>The ciphertext will look unintelligible to any intruder.</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8DEEA5A-4DAB-F26A-91F1-AB8CC6E91247}"/>
                  </a:ext>
                </a:extLst>
              </p:cNvPr>
              <p:cNvSpPr txBox="1"/>
              <p:nvPr/>
            </p:nvSpPr>
            <p:spPr>
              <a:xfrm>
                <a:off x="1291857" y="4237026"/>
                <a:ext cx="9605110" cy="2620974"/>
              </a:xfrm>
              <a:prstGeom prst="rect">
                <a:avLst/>
              </a:prstGeom>
              <a:noFill/>
            </p:spPr>
            <p:txBody>
              <a:bodyPr wrap="square" rtlCol="0">
                <a:spAutoFit/>
              </a:bodyPr>
              <a:lstStyle/>
              <a:p>
                <a:r>
                  <a:rPr lang="en-US" dirty="0"/>
                  <a:t>In the figure Alice provides a key say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𝐴</m:t>
                        </m:r>
                      </m:sub>
                    </m:sSub>
                  </m:oMath>
                </a14:m>
                <a:r>
                  <a:rPr lang="en-US" dirty="0"/>
                  <a:t> which is a string of numbers and characters. She gives the plaintext </a:t>
                </a:r>
                <a14:m>
                  <m:oMath xmlns:m="http://schemas.openxmlformats.org/officeDocument/2006/math">
                    <m:r>
                      <a:rPr lang="en-US" i="1">
                        <a:latin typeface="Cambria Math" panose="02040503050406030204" pitchFamily="18" charset="0"/>
                      </a:rPr>
                      <m:t>𝑀</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𝐴</m:t>
                        </m:r>
                      </m:sub>
                    </m:sSub>
                  </m:oMath>
                </a14:m>
                <a:r>
                  <a:rPr lang="en-US" dirty="0"/>
                  <a:t> to the encryption algorithm as inputs and the algorithm returns the ciphertext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𝐴</m:t>
                        </m:r>
                      </m:sub>
                    </m:sSub>
                    <m:r>
                      <a:rPr lang="en-US">
                        <a:latin typeface="Cambria Math" panose="02040503050406030204" pitchFamily="18" charset="0"/>
                      </a:rPr>
                      <m:t>(</m:t>
                    </m:r>
                    <m:r>
                      <a:rPr lang="en-US" i="1">
                        <a:latin typeface="Cambria Math" panose="02040503050406030204" pitchFamily="18" charset="0"/>
                      </a:rPr>
                      <m:t>𝑀</m:t>
                    </m:r>
                    <m:r>
                      <a:rPr lang="en-US">
                        <a:latin typeface="Cambria Math" panose="02040503050406030204" pitchFamily="18" charset="0"/>
                      </a:rPr>
                      <m:t>)</m:t>
                    </m:r>
                  </m:oMath>
                </a14:m>
                <a:r>
                  <a:rPr lang="en-US" dirty="0"/>
                  <a:t> which is the plaintext encrypted by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𝐴</m:t>
                        </m:r>
                      </m:sub>
                    </m:sSub>
                  </m:oMath>
                </a14:m>
                <a:r>
                  <a:rPr lang="en-US" dirty="0"/>
                  <a:t>. Bob also provides a decryption key say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𝐵</m:t>
                        </m:r>
                      </m:sub>
                    </m:sSub>
                  </m:oMath>
                </a14:m>
                <a:r>
                  <a:rPr lang="en-US" dirty="0"/>
                  <a:t> and gives the ciphertext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𝐴</m:t>
                        </m:r>
                      </m:sub>
                    </m:sSub>
                    <m:r>
                      <a:rPr lang="en-US" i="1">
                        <a:latin typeface="Cambria Math" panose="02040503050406030204" pitchFamily="18" charset="0"/>
                      </a:rPr>
                      <m:t>(</m:t>
                    </m:r>
                    <m:r>
                      <a:rPr lang="en-US" i="1">
                        <a:latin typeface="Cambria Math" panose="02040503050406030204" pitchFamily="18" charset="0"/>
                      </a:rPr>
                      <m:t>𝑀</m:t>
                    </m:r>
                    <m:r>
                      <a:rPr lang="en-US" i="1">
                        <a:latin typeface="Cambria Math" panose="02040503050406030204" pitchFamily="18" charset="0"/>
                      </a:rPr>
                      <m:t>)</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𝐵</m:t>
                        </m:r>
                      </m:sub>
                    </m:sSub>
                  </m:oMath>
                </a14:m>
                <a:r>
                  <a:rPr lang="en-US" dirty="0"/>
                  <a:t> as inputs to the decryption algorithm which produces the original plaintext which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𝐵</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𝐴</m:t>
                            </m:r>
                          </m:sub>
                        </m:sSub>
                        <m:d>
                          <m:dPr>
                            <m:ctrlPr>
                              <a:rPr lang="en-US" i="1">
                                <a:latin typeface="Cambria Math" panose="02040503050406030204" pitchFamily="18" charset="0"/>
                              </a:rPr>
                            </m:ctrlPr>
                          </m:dPr>
                          <m:e>
                            <m:r>
                              <a:rPr lang="en-US" i="1">
                                <a:latin typeface="Cambria Math" panose="02040503050406030204" pitchFamily="18" charset="0"/>
                              </a:rPr>
                              <m:t>𝑀</m:t>
                            </m:r>
                          </m:e>
                        </m:d>
                      </m:e>
                    </m:d>
                    <m:r>
                      <a:rPr lang="en-US" i="1">
                        <a:latin typeface="Cambria Math" panose="02040503050406030204" pitchFamily="18" charset="0"/>
                      </a:rPr>
                      <m:t>=</m:t>
                    </m:r>
                    <m:r>
                      <a:rPr lang="en-US" i="1">
                        <a:latin typeface="Cambria Math" panose="02040503050406030204" pitchFamily="18" charset="0"/>
                      </a:rPr>
                      <m:t>𝑀</m:t>
                    </m:r>
                  </m:oMath>
                </a14:m>
                <a:r>
                  <a:rPr lang="en-US" dirty="0"/>
                  <a:t>. In symmetric key systems, Alice’s and Bob’s keys are identical and are secret. In public key systems, a pair of keys is used. One of the keys is known to both Bob and Alice (indeed, it is known to the whole world). The other key is known only by either Bob or Alice (but not both).</a:t>
                </a:r>
              </a:p>
              <a:p>
                <a:endParaRPr lang="en-US" dirty="0"/>
              </a:p>
            </p:txBody>
          </p:sp>
        </mc:Choice>
        <mc:Fallback xmlns="">
          <p:sp>
            <p:nvSpPr>
              <p:cNvPr id="7" name="TextBox 6">
                <a:extLst>
                  <a:ext uri="{FF2B5EF4-FFF2-40B4-BE49-F238E27FC236}">
                    <a16:creationId xmlns:a16="http://schemas.microsoft.com/office/drawing/2014/main" id="{58DEEA5A-4DAB-F26A-91F1-AB8CC6E91247}"/>
                  </a:ext>
                </a:extLst>
              </p:cNvPr>
              <p:cNvSpPr txBox="1">
                <a:spLocks noRot="1" noChangeAspect="1" noMove="1" noResize="1" noEditPoints="1" noAdjustHandles="1" noChangeArrowheads="1" noChangeShapeType="1" noTextEdit="1"/>
              </p:cNvSpPr>
              <p:nvPr/>
            </p:nvSpPr>
            <p:spPr>
              <a:xfrm>
                <a:off x="1291857" y="4237026"/>
                <a:ext cx="9605110" cy="2620974"/>
              </a:xfrm>
              <a:prstGeom prst="rect">
                <a:avLst/>
              </a:prstGeom>
              <a:blipFill>
                <a:blip r:embed="rId3"/>
                <a:stretch>
                  <a:fillRect l="-571" t="-1163" r="-571"/>
                </a:stretch>
              </a:blipFill>
            </p:spPr>
            <p:txBody>
              <a:bodyPr/>
              <a:lstStyle/>
              <a:p>
                <a:r>
                  <a:rPr lang="en-US">
                    <a:noFill/>
                  </a:rPr>
                  <a:t> </a:t>
                </a:r>
              </a:p>
            </p:txBody>
          </p:sp>
        </mc:Fallback>
      </mc:AlternateContent>
    </p:spTree>
    <p:extLst>
      <p:ext uri="{BB962C8B-B14F-4D97-AF65-F5344CB8AC3E}">
        <p14:creationId xmlns:p14="http://schemas.microsoft.com/office/powerpoint/2010/main" val="3949174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98C23-2580-6210-7467-E54353CDCE34}"/>
              </a:ext>
            </a:extLst>
          </p:cNvPr>
          <p:cNvSpPr>
            <a:spLocks noGrp="1"/>
          </p:cNvSpPr>
          <p:nvPr>
            <p:ph type="title"/>
          </p:nvPr>
        </p:nvSpPr>
        <p:spPr/>
        <p:txBody>
          <a:bodyPr/>
          <a:lstStyle/>
          <a:p>
            <a:r>
              <a:rPr lang="en-US" dirty="0"/>
              <a:t>Symmetric Key Cryptography</a:t>
            </a:r>
          </a:p>
        </p:txBody>
      </p:sp>
      <p:sp>
        <p:nvSpPr>
          <p:cNvPr id="3" name="Content Placeholder 2">
            <a:extLst>
              <a:ext uri="{FF2B5EF4-FFF2-40B4-BE49-F238E27FC236}">
                <a16:creationId xmlns:a16="http://schemas.microsoft.com/office/drawing/2014/main" id="{38A6A4BA-63B2-A17D-2A6F-F01A3CE8F584}"/>
              </a:ext>
            </a:extLst>
          </p:cNvPr>
          <p:cNvSpPr>
            <a:spLocks noGrp="1"/>
          </p:cNvSpPr>
          <p:nvPr>
            <p:ph idx="1"/>
          </p:nvPr>
        </p:nvSpPr>
        <p:spPr/>
        <p:txBody>
          <a:bodyPr/>
          <a:lstStyle/>
          <a:p>
            <a:r>
              <a:rPr lang="en-US" dirty="0"/>
              <a:t>Caeser Cipher</a:t>
            </a:r>
          </a:p>
          <a:p>
            <a:r>
              <a:rPr lang="en-US" dirty="0"/>
              <a:t>Monoalphabetic Cipher</a:t>
            </a:r>
          </a:p>
          <a:p>
            <a:r>
              <a:rPr lang="en-US" dirty="0"/>
              <a:t>polyalphabetic Encryption</a:t>
            </a:r>
          </a:p>
          <a:p>
            <a:r>
              <a:rPr lang="en-US" dirty="0"/>
              <a:t>Block Ciphers</a:t>
            </a:r>
          </a:p>
          <a:p>
            <a:r>
              <a:rPr lang="en-US" dirty="0"/>
              <a:t>Cipher Block-Chaining</a:t>
            </a:r>
          </a:p>
        </p:txBody>
      </p:sp>
    </p:spTree>
    <p:extLst>
      <p:ext uri="{BB962C8B-B14F-4D97-AF65-F5344CB8AC3E}">
        <p14:creationId xmlns:p14="http://schemas.microsoft.com/office/powerpoint/2010/main" val="4349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0DD6E-E45B-9D0E-808B-1F2F82840B67}"/>
              </a:ext>
            </a:extLst>
          </p:cNvPr>
          <p:cNvSpPr>
            <a:spLocks noGrp="1"/>
          </p:cNvSpPr>
          <p:nvPr>
            <p:ph type="title"/>
          </p:nvPr>
        </p:nvSpPr>
        <p:spPr/>
        <p:txBody>
          <a:bodyPr/>
          <a:lstStyle/>
          <a:p>
            <a:r>
              <a:rPr lang="en-US" dirty="0"/>
              <a:t>Caeser cipher</a:t>
            </a:r>
          </a:p>
        </p:txBody>
      </p:sp>
      <p:sp>
        <p:nvSpPr>
          <p:cNvPr id="3" name="Content Placeholder 2">
            <a:extLst>
              <a:ext uri="{FF2B5EF4-FFF2-40B4-BE49-F238E27FC236}">
                <a16:creationId xmlns:a16="http://schemas.microsoft.com/office/drawing/2014/main" id="{FF1973EC-BD9F-855D-DD30-27B3C2587BEE}"/>
              </a:ext>
            </a:extLst>
          </p:cNvPr>
          <p:cNvSpPr>
            <a:spLocks noGrp="1"/>
          </p:cNvSpPr>
          <p:nvPr>
            <p:ph idx="1"/>
          </p:nvPr>
        </p:nvSpPr>
        <p:spPr>
          <a:xfrm>
            <a:off x="1262306" y="1974539"/>
            <a:ext cx="9905999" cy="4375902"/>
          </a:xfrm>
        </p:spPr>
        <p:txBody>
          <a:bodyPr>
            <a:normAutofit lnSpcReduction="10000"/>
          </a:bodyPr>
          <a:lstStyle/>
          <a:p>
            <a:r>
              <a:rPr lang="en-US" sz="2000" dirty="0"/>
              <a:t>A very old and simple symmetric key algorithm attributed to Julius Caeser</a:t>
            </a:r>
          </a:p>
          <a:p>
            <a:pPr marL="0" indent="0">
              <a:buNone/>
            </a:pPr>
            <a:r>
              <a:rPr lang="en-US" sz="2000" dirty="0"/>
              <a:t>For English text, the Caesar cipher would work by taking each letter in the plain text message and substituting the letter that is k letters later (allowing wraparound; that is, having the letter z followed by the letter a) in the alphabet. In this encryption method k is the serves as the key.</a:t>
            </a:r>
          </a:p>
          <a:p>
            <a:pPr marL="0" indent="0">
              <a:buNone/>
            </a:pPr>
            <a:endParaRPr lang="en-US" sz="2000" dirty="0"/>
          </a:p>
          <a:p>
            <a:pPr marL="0" indent="0">
              <a:buNone/>
            </a:pPr>
            <a:r>
              <a:rPr lang="en-US" sz="2000" u="sng" dirty="0"/>
              <a:t>EXAMPLE</a:t>
            </a:r>
            <a:r>
              <a:rPr lang="en-US" sz="2000" dirty="0"/>
              <a:t>  k = 3</a:t>
            </a:r>
          </a:p>
          <a:p>
            <a:pPr marL="0" indent="0">
              <a:buNone/>
            </a:pPr>
            <a:r>
              <a:rPr lang="en-US" sz="2000" dirty="0"/>
              <a:t>plaintext: </a:t>
            </a:r>
            <a:r>
              <a:rPr lang="en-US" sz="2000" b="1" dirty="0"/>
              <a:t>“bob, I love you. Alice” </a:t>
            </a:r>
            <a:r>
              <a:rPr lang="en-US" sz="2000" dirty="0"/>
              <a:t>becomes ciphertext: </a:t>
            </a:r>
            <a:r>
              <a:rPr lang="en-US" sz="2000" b="1" dirty="0"/>
              <a:t>“ere, l </a:t>
            </a:r>
            <a:r>
              <a:rPr lang="en-US" sz="2000" b="1" dirty="0" err="1"/>
              <a:t>oryh</a:t>
            </a:r>
            <a:r>
              <a:rPr lang="en-US" sz="2000" b="1" dirty="0"/>
              <a:t> </a:t>
            </a:r>
            <a:r>
              <a:rPr lang="en-US" sz="2000" b="1" dirty="0" err="1"/>
              <a:t>brx</a:t>
            </a:r>
            <a:r>
              <a:rPr lang="en-US" sz="2000" b="1" dirty="0"/>
              <a:t>. </a:t>
            </a:r>
            <a:r>
              <a:rPr lang="en-US" sz="2000" b="1" dirty="0" err="1"/>
              <a:t>dolfh</a:t>
            </a:r>
            <a:r>
              <a:rPr lang="en-US" sz="2000" b="1" dirty="0"/>
              <a:t>”</a:t>
            </a:r>
          </a:p>
          <a:p>
            <a:pPr marL="0" indent="0">
              <a:buNone/>
            </a:pPr>
            <a:endParaRPr lang="en-US" sz="2000" b="1" dirty="0"/>
          </a:p>
          <a:p>
            <a:r>
              <a:rPr lang="en-US" sz="2000" dirty="0"/>
              <a:t>It wouldn’t take long to break the code if you know the Caeser cipher was being used, as there are only 25 possible key values.</a:t>
            </a:r>
          </a:p>
          <a:p>
            <a:pPr marL="0" indent="0">
              <a:buNone/>
            </a:pPr>
            <a:endParaRPr lang="en-US" dirty="0"/>
          </a:p>
        </p:txBody>
      </p:sp>
    </p:spTree>
    <p:extLst>
      <p:ext uri="{BB962C8B-B14F-4D97-AF65-F5344CB8AC3E}">
        <p14:creationId xmlns:p14="http://schemas.microsoft.com/office/powerpoint/2010/main" val="322147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6E7E6-D910-3CF1-6C1D-3D77A79EE615}"/>
              </a:ext>
            </a:extLst>
          </p:cNvPr>
          <p:cNvSpPr>
            <a:spLocks noGrp="1"/>
          </p:cNvSpPr>
          <p:nvPr>
            <p:ph type="title"/>
          </p:nvPr>
        </p:nvSpPr>
        <p:spPr/>
        <p:txBody>
          <a:bodyPr/>
          <a:lstStyle/>
          <a:p>
            <a:r>
              <a:rPr lang="en-US" dirty="0"/>
              <a:t>Monoalphabetic cipher</a:t>
            </a:r>
          </a:p>
        </p:txBody>
      </p:sp>
      <p:sp>
        <p:nvSpPr>
          <p:cNvPr id="3" name="Content Placeholder 2">
            <a:extLst>
              <a:ext uri="{FF2B5EF4-FFF2-40B4-BE49-F238E27FC236}">
                <a16:creationId xmlns:a16="http://schemas.microsoft.com/office/drawing/2014/main" id="{76721CA9-0F3B-ED30-8D22-6171652A1186}"/>
              </a:ext>
            </a:extLst>
          </p:cNvPr>
          <p:cNvSpPr>
            <a:spLocks noGrp="1"/>
          </p:cNvSpPr>
          <p:nvPr>
            <p:ph idx="1"/>
          </p:nvPr>
        </p:nvSpPr>
        <p:spPr>
          <a:xfrm>
            <a:off x="1405362" y="1903910"/>
            <a:ext cx="9905999" cy="4434119"/>
          </a:xfrm>
        </p:spPr>
        <p:txBody>
          <a:bodyPr>
            <a:normAutofit lnSpcReduction="10000"/>
          </a:bodyPr>
          <a:lstStyle/>
          <a:p>
            <a:r>
              <a:rPr lang="en-US" sz="2000" dirty="0"/>
              <a:t>An improvement on the Caesar cipher</a:t>
            </a:r>
          </a:p>
          <a:p>
            <a:pPr marL="0" indent="0">
              <a:buNone/>
            </a:pPr>
            <a:r>
              <a:rPr lang="en-US" sz="2000" dirty="0"/>
              <a:t>also substitutes one letter of the alphabet with another letter of the alphabet. However, rather than substituting according to a regular pattern (e.g., substitution with an offset of k for all letters), any letter can be substituted for any other letter, as long as each letter has a unique substitute letter, and vice versa. </a:t>
            </a:r>
          </a:p>
          <a:p>
            <a:pPr marL="0" indent="0">
              <a:buNone/>
            </a:pPr>
            <a:endParaRPr lang="en-US" sz="2000" dirty="0"/>
          </a:p>
          <a:p>
            <a:pPr marL="0" indent="0">
              <a:buNone/>
            </a:pPr>
            <a:r>
              <a:rPr lang="en-US" sz="2000" u="sng" dirty="0"/>
              <a:t>EXAMPLE</a:t>
            </a:r>
          </a:p>
          <a:p>
            <a:pPr marL="0" indent="0">
              <a:buNone/>
            </a:pPr>
            <a:r>
              <a:rPr lang="en-US" sz="2000" dirty="0"/>
              <a:t>plaintext: </a:t>
            </a:r>
            <a:r>
              <a:rPr lang="en-US" sz="2000" b="1" dirty="0"/>
              <a:t>“bob, I love you. Alice” </a:t>
            </a:r>
            <a:r>
              <a:rPr lang="en-US" sz="2000" dirty="0"/>
              <a:t>becomes ciphertext: </a:t>
            </a:r>
            <a:r>
              <a:rPr lang="en-US" sz="2000" b="1" dirty="0"/>
              <a:t>“</a:t>
            </a:r>
            <a:r>
              <a:rPr lang="en-US" sz="2000" b="1" dirty="0" err="1"/>
              <a:t>nkn</a:t>
            </a:r>
            <a:r>
              <a:rPr lang="en-US" sz="2000" b="1" dirty="0"/>
              <a:t>, s </a:t>
            </a:r>
            <a:r>
              <a:rPr lang="en-US" sz="2000" b="1" dirty="0" err="1"/>
              <a:t>gktc</a:t>
            </a:r>
            <a:r>
              <a:rPr lang="en-US" sz="2000" b="1" dirty="0"/>
              <a:t> </a:t>
            </a:r>
            <a:r>
              <a:rPr lang="en-US" sz="2000" b="1" dirty="0" err="1"/>
              <a:t>wky</a:t>
            </a:r>
            <a:r>
              <a:rPr lang="en-US" sz="2000" b="1" dirty="0"/>
              <a:t>. </a:t>
            </a:r>
            <a:r>
              <a:rPr lang="en-US" sz="2000" b="1" dirty="0" err="1"/>
              <a:t>Mgsbc</a:t>
            </a:r>
            <a:r>
              <a:rPr lang="en-US" sz="2000" b="1" dirty="0"/>
              <a:t>”</a:t>
            </a:r>
          </a:p>
          <a:p>
            <a:pPr marL="0" indent="0">
              <a:buNone/>
            </a:pPr>
            <a:endParaRPr lang="en-US" sz="2000" b="1" dirty="0"/>
          </a:p>
          <a:p>
            <a:r>
              <a:rPr lang="en-US" sz="2000" dirty="0"/>
              <a:t>However, by statistical analysis of the plain text the code can be broken easily.</a:t>
            </a:r>
          </a:p>
          <a:p>
            <a:pPr marL="0" indent="0">
              <a:buNone/>
            </a:pPr>
            <a:endParaRPr lang="en-US" sz="2000" b="1" dirty="0"/>
          </a:p>
        </p:txBody>
      </p:sp>
      <p:pic>
        <p:nvPicPr>
          <p:cNvPr id="5" name="Picture 4">
            <a:extLst>
              <a:ext uri="{FF2B5EF4-FFF2-40B4-BE49-F238E27FC236}">
                <a16:creationId xmlns:a16="http://schemas.microsoft.com/office/drawing/2014/main" id="{AC1066C9-A437-6873-FFD2-36F99B890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5024" y="3976001"/>
            <a:ext cx="5071261" cy="491334"/>
          </a:xfrm>
          <a:prstGeom prst="rect">
            <a:avLst/>
          </a:prstGeom>
        </p:spPr>
      </p:pic>
    </p:spTree>
    <p:extLst>
      <p:ext uri="{BB962C8B-B14F-4D97-AF65-F5344CB8AC3E}">
        <p14:creationId xmlns:p14="http://schemas.microsoft.com/office/powerpoint/2010/main" val="1038425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CD1BE-41C5-49CF-9DE0-FE7ABE5255A4}"/>
              </a:ext>
            </a:extLst>
          </p:cNvPr>
          <p:cNvSpPr>
            <a:spLocks noGrp="1"/>
          </p:cNvSpPr>
          <p:nvPr>
            <p:ph type="title"/>
          </p:nvPr>
        </p:nvSpPr>
        <p:spPr/>
        <p:txBody>
          <a:bodyPr/>
          <a:lstStyle/>
          <a:p>
            <a:r>
              <a:rPr lang="en-US" dirty="0"/>
              <a:t>Polyalphabetic cipher</a:t>
            </a:r>
          </a:p>
        </p:txBody>
      </p:sp>
      <p:sp>
        <p:nvSpPr>
          <p:cNvPr id="3" name="Content Placeholder 2">
            <a:extLst>
              <a:ext uri="{FF2B5EF4-FFF2-40B4-BE49-F238E27FC236}">
                <a16:creationId xmlns:a16="http://schemas.microsoft.com/office/drawing/2014/main" id="{8BB330C9-AA80-AC6A-DF30-1E7579F9C188}"/>
              </a:ext>
            </a:extLst>
          </p:cNvPr>
          <p:cNvSpPr>
            <a:spLocks noGrp="1"/>
          </p:cNvSpPr>
          <p:nvPr>
            <p:ph idx="1"/>
          </p:nvPr>
        </p:nvSpPr>
        <p:spPr/>
        <p:txBody>
          <a:bodyPr/>
          <a:lstStyle/>
          <a:p>
            <a:pPr marL="0" indent="0">
              <a:buNone/>
            </a:pPr>
            <a:r>
              <a:rPr lang="en-US" dirty="0"/>
              <a:t>Five hundred years ago, techniques improving on monoalphabetic encryption, known as polyalphabetic encryption, were invented. The idea behind polyalphabetic encryption is to use multiple monoalphabetic ciphers, with a specific monoalphabetic cipher to encode a letter in a specific position in the plaintext message. Thus, the same letter, appearing in different positions in the plaintext message, might be encoded differently.</a:t>
            </a:r>
            <a:r>
              <a:rPr lang="en-US" u="sng" dirty="0"/>
              <a:t> </a:t>
            </a:r>
          </a:p>
        </p:txBody>
      </p:sp>
    </p:spTree>
    <p:extLst>
      <p:ext uri="{BB962C8B-B14F-4D97-AF65-F5344CB8AC3E}">
        <p14:creationId xmlns:p14="http://schemas.microsoft.com/office/powerpoint/2010/main" val="2209791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64C87-5183-491B-05A9-D37D45801580}"/>
              </a:ext>
            </a:extLst>
          </p:cNvPr>
          <p:cNvSpPr>
            <a:spLocks noGrp="1"/>
          </p:cNvSpPr>
          <p:nvPr>
            <p:ph type="title"/>
          </p:nvPr>
        </p:nvSpPr>
        <p:spPr/>
        <p:txBody>
          <a:bodyPr/>
          <a:lstStyle/>
          <a:p>
            <a:r>
              <a:rPr lang="en-US" u="sng" dirty="0"/>
              <a:t>EXAMPLE</a:t>
            </a:r>
          </a:p>
        </p:txBody>
      </p:sp>
      <p:sp>
        <p:nvSpPr>
          <p:cNvPr id="3" name="Content Placeholder 2">
            <a:extLst>
              <a:ext uri="{FF2B5EF4-FFF2-40B4-BE49-F238E27FC236}">
                <a16:creationId xmlns:a16="http://schemas.microsoft.com/office/drawing/2014/main" id="{812B71CE-DEF8-D135-C958-3A9EFC196566}"/>
              </a:ext>
            </a:extLst>
          </p:cNvPr>
          <p:cNvSpPr>
            <a:spLocks noGrp="1"/>
          </p:cNvSpPr>
          <p:nvPr>
            <p:ph idx="1"/>
          </p:nvPr>
        </p:nvSpPr>
        <p:spPr/>
        <p:txBody>
          <a:bodyPr>
            <a:normAutofit fontScale="92500" lnSpcReduction="10000"/>
          </a:bodyPr>
          <a:lstStyle/>
          <a:p>
            <a:pPr marL="0" indent="0">
              <a:buNone/>
            </a:pPr>
            <a:r>
              <a:rPr lang="en-US" dirty="0"/>
              <a:t>It has two Caesar ciphers (with k = 5 and k = 19), shown as rows. We might choose to use these two Caesar ciphers, C1 and C2, in the repeating pattern C1, C2, C2, C1, C2. That is, the first letter of plaintext is to be encoded using C1, the second and third using C2, the fourth using C1, and the fifth using C2. The pattern then repeats, with the sixth letter being encoded using C1, the seventh with C2, and so on. The plaintext message </a:t>
            </a:r>
            <a:r>
              <a:rPr lang="en-US" b="1" dirty="0"/>
              <a:t>“bob, </a:t>
            </a:r>
            <a:r>
              <a:rPr lang="en-US" b="1" dirty="0" err="1"/>
              <a:t>i</a:t>
            </a:r>
            <a:r>
              <a:rPr lang="en-US" b="1" dirty="0"/>
              <a:t> love you.” </a:t>
            </a:r>
            <a:r>
              <a:rPr lang="en-US" dirty="0"/>
              <a:t>is thus encrypted </a:t>
            </a:r>
            <a:r>
              <a:rPr lang="en-US" b="1" dirty="0"/>
              <a:t>“</a:t>
            </a:r>
            <a:r>
              <a:rPr lang="en-US" b="1" dirty="0" err="1"/>
              <a:t>ghu</a:t>
            </a:r>
            <a:r>
              <a:rPr lang="en-US" b="1" dirty="0"/>
              <a:t>, n </a:t>
            </a:r>
            <a:r>
              <a:rPr lang="en-US" b="1" dirty="0" err="1"/>
              <a:t>etox</a:t>
            </a:r>
            <a:r>
              <a:rPr lang="en-US" b="1" dirty="0"/>
              <a:t> </a:t>
            </a:r>
            <a:r>
              <a:rPr lang="en-US" b="1" dirty="0" err="1"/>
              <a:t>dhz</a:t>
            </a:r>
            <a:r>
              <a:rPr lang="en-US" b="1" dirty="0"/>
              <a:t>.” </a:t>
            </a:r>
            <a:r>
              <a:rPr lang="en-US" dirty="0"/>
              <a:t>Note that the first b in the plaintext message is encrypted using C1, while the second b is encrypted using C2. In this example, the encryption and decryption “key” is the knowledge of the two Caesar keys (k = 5, k = 19) and the pattern C1, C2, C2, C1, C2.</a:t>
            </a:r>
          </a:p>
        </p:txBody>
      </p:sp>
      <p:pic>
        <p:nvPicPr>
          <p:cNvPr id="7" name="Picture 6">
            <a:extLst>
              <a:ext uri="{FF2B5EF4-FFF2-40B4-BE49-F238E27FC236}">
                <a16:creationId xmlns:a16="http://schemas.microsoft.com/office/drawing/2014/main" id="{4F03B14A-2007-14C1-5BED-E806BC78BF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7216" y="974860"/>
            <a:ext cx="6737806" cy="929353"/>
          </a:xfrm>
          <a:prstGeom prst="rect">
            <a:avLst/>
          </a:prstGeom>
        </p:spPr>
      </p:pic>
    </p:spTree>
    <p:extLst>
      <p:ext uri="{BB962C8B-B14F-4D97-AF65-F5344CB8AC3E}">
        <p14:creationId xmlns:p14="http://schemas.microsoft.com/office/powerpoint/2010/main" val="933680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25925-2438-1C82-D3A6-1420114CDA89}"/>
              </a:ext>
            </a:extLst>
          </p:cNvPr>
          <p:cNvSpPr>
            <a:spLocks noGrp="1"/>
          </p:cNvSpPr>
          <p:nvPr>
            <p:ph type="title"/>
          </p:nvPr>
        </p:nvSpPr>
        <p:spPr/>
        <p:txBody>
          <a:bodyPr/>
          <a:lstStyle/>
          <a:p>
            <a:r>
              <a:rPr lang="en-US" dirty="0"/>
              <a:t>Block ciphers</a:t>
            </a:r>
          </a:p>
        </p:txBody>
      </p:sp>
      <p:sp>
        <p:nvSpPr>
          <p:cNvPr id="3" name="Content Placeholder 2">
            <a:extLst>
              <a:ext uri="{FF2B5EF4-FFF2-40B4-BE49-F238E27FC236}">
                <a16:creationId xmlns:a16="http://schemas.microsoft.com/office/drawing/2014/main" id="{B2A8EE45-7B43-7294-2222-C9263742CE99}"/>
              </a:ext>
            </a:extLst>
          </p:cNvPr>
          <p:cNvSpPr>
            <a:spLocks noGrp="1"/>
          </p:cNvSpPr>
          <p:nvPr>
            <p:ph idx="1"/>
          </p:nvPr>
        </p:nvSpPr>
        <p:spPr/>
        <p:txBody>
          <a:bodyPr/>
          <a:lstStyle/>
          <a:p>
            <a:pPr marL="0" indent="0">
              <a:buNone/>
            </a:pPr>
            <a:r>
              <a:rPr lang="en-US" dirty="0"/>
              <a:t>In a block cipher, the message to be encrypted is processed in blocks of k bits. For example, if k = 64, then the message is broken into 64-bit blocks, and each block is encrypted independently. To encode a block, the cipher uses a one-to-one mapping to map the k-bit block of cleartext to a k-bit block of ciphertext</a:t>
            </a:r>
          </a:p>
        </p:txBody>
      </p:sp>
    </p:spTree>
    <p:extLst>
      <p:ext uri="{BB962C8B-B14F-4D97-AF65-F5344CB8AC3E}">
        <p14:creationId xmlns:p14="http://schemas.microsoft.com/office/powerpoint/2010/main" val="1528940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C1AD5-8D6B-5B5E-9387-B900D5B0C71F}"/>
              </a:ext>
            </a:extLst>
          </p:cNvPr>
          <p:cNvSpPr>
            <a:spLocks noGrp="1"/>
          </p:cNvSpPr>
          <p:nvPr>
            <p:ph type="title"/>
          </p:nvPr>
        </p:nvSpPr>
        <p:spPr/>
        <p:txBody>
          <a:bodyPr/>
          <a:lstStyle/>
          <a:p>
            <a:r>
              <a:rPr lang="en-US" u="sng" dirty="0"/>
              <a:t>EXAMPLE</a:t>
            </a:r>
          </a:p>
        </p:txBody>
      </p:sp>
      <p:sp>
        <p:nvSpPr>
          <p:cNvPr id="3" name="Content Placeholder 2">
            <a:extLst>
              <a:ext uri="{FF2B5EF4-FFF2-40B4-BE49-F238E27FC236}">
                <a16:creationId xmlns:a16="http://schemas.microsoft.com/office/drawing/2014/main" id="{BCB3C43D-3EA6-EA6C-54C2-80DC373BAA7B}"/>
              </a:ext>
            </a:extLst>
          </p:cNvPr>
          <p:cNvSpPr>
            <a:spLocks noGrp="1"/>
          </p:cNvSpPr>
          <p:nvPr>
            <p:ph idx="1"/>
          </p:nvPr>
        </p:nvSpPr>
        <p:spPr>
          <a:xfrm>
            <a:off x="1141412" y="1806427"/>
            <a:ext cx="9905999" cy="3541714"/>
          </a:xfrm>
        </p:spPr>
        <p:txBody>
          <a:bodyPr/>
          <a:lstStyle/>
          <a:p>
            <a:pPr marL="0" indent="0">
              <a:buNone/>
            </a:pPr>
            <a:r>
              <a:rPr lang="en-US" dirty="0"/>
              <a:t>Suppose that k = 3, so that the block cipher maps 3-bit inputs (cleartext) to 3-bit outputs (ciphertext). One possible mapping is given below. Notice that this is a one-to-one mapping; that is, there is a different output for each input. This block cipher breaks the message up into 3-bit blocks and encrypts each block according to the mapping. Using this mapping the message 010110001111 gets encrypted into 101000111001.</a:t>
            </a:r>
          </a:p>
        </p:txBody>
      </p:sp>
      <p:pic>
        <p:nvPicPr>
          <p:cNvPr id="5" name="Picture 4">
            <a:extLst>
              <a:ext uri="{FF2B5EF4-FFF2-40B4-BE49-F238E27FC236}">
                <a16:creationId xmlns:a16="http://schemas.microsoft.com/office/drawing/2014/main" id="{6E571389-06D5-46AB-4BF3-53C5D7F80D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9695" y="4760913"/>
            <a:ext cx="5829805" cy="1607959"/>
          </a:xfrm>
          <a:prstGeom prst="rect">
            <a:avLst/>
          </a:prstGeom>
        </p:spPr>
      </p:pic>
    </p:spTree>
    <p:extLst>
      <p:ext uri="{BB962C8B-B14F-4D97-AF65-F5344CB8AC3E}">
        <p14:creationId xmlns:p14="http://schemas.microsoft.com/office/powerpoint/2010/main" val="3378300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B1964-3004-382C-2A8C-AB2ADD94F759}"/>
              </a:ext>
            </a:extLst>
          </p:cNvPr>
          <p:cNvSpPr>
            <a:spLocks noGrp="1"/>
          </p:cNvSpPr>
          <p:nvPr>
            <p:ph type="title"/>
          </p:nvPr>
        </p:nvSpPr>
        <p:spPr/>
        <p:txBody>
          <a:bodyPr/>
          <a:lstStyle/>
          <a:p>
            <a:r>
              <a:rPr lang="en-US" dirty="0"/>
              <a:t>Problems and limits of full table block ciphers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C0D049-8D55-4041-6D81-BB53CDE9AA70}"/>
                  </a:ext>
                </a:extLst>
              </p:cNvPr>
              <p:cNvSpPr>
                <a:spLocks noGrp="1"/>
              </p:cNvSpPr>
              <p:nvPr>
                <p:ph idx="1"/>
              </p:nvPr>
            </p:nvSpPr>
            <p:spPr/>
            <p:txBody>
              <a:bodyPr/>
              <a:lstStyle/>
              <a:p>
                <a:r>
                  <a:rPr lang="en-US" dirty="0"/>
                  <a:t>for small k like the previous example the number of total inputs is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oMath>
                </a14:m>
                <a:r>
                  <a:rPr lang="en-US" dirty="0"/>
                  <a:t> = 8 so the number of all possible mappings is 8! = 40320 which using a normal PC and lunching a brute-force algorithm the ciphertext can be broken easily.</a:t>
                </a:r>
              </a:p>
              <a:p>
                <a:r>
                  <a:rPr lang="en-US" dirty="0"/>
                  <a:t>So should we use a value of K that is big? Like k = 64 ?</a:t>
                </a:r>
              </a:p>
            </p:txBody>
          </p:sp>
        </mc:Choice>
        <mc:Fallback xmlns="">
          <p:sp>
            <p:nvSpPr>
              <p:cNvPr id="3" name="Content Placeholder 2">
                <a:extLst>
                  <a:ext uri="{FF2B5EF4-FFF2-40B4-BE49-F238E27FC236}">
                    <a16:creationId xmlns:a16="http://schemas.microsoft.com/office/drawing/2014/main" id="{F6C0D049-8D55-4041-6D81-BB53CDE9AA70}"/>
                  </a:ext>
                </a:extLst>
              </p:cNvPr>
              <p:cNvSpPr>
                <a:spLocks noGrp="1" noRot="1" noChangeAspect="1" noMove="1" noResize="1" noEditPoints="1" noAdjustHandles="1" noChangeArrowheads="1" noChangeShapeType="1" noTextEdit="1"/>
              </p:cNvSpPr>
              <p:nvPr>
                <p:ph idx="1"/>
              </p:nvPr>
            </p:nvSpPr>
            <p:spPr>
              <a:blipFill>
                <a:blip r:embed="rId2"/>
                <a:stretch>
                  <a:fillRect l="-1231" t="-2238"/>
                </a:stretch>
              </a:blipFill>
            </p:spPr>
            <p:txBody>
              <a:bodyPr/>
              <a:lstStyle/>
              <a:p>
                <a:r>
                  <a:rPr lang="en-US">
                    <a:noFill/>
                  </a:rPr>
                  <a:t> </a:t>
                </a:r>
              </a:p>
            </p:txBody>
          </p:sp>
        </mc:Fallback>
      </mc:AlternateContent>
    </p:spTree>
    <p:extLst>
      <p:ext uri="{BB962C8B-B14F-4D97-AF65-F5344CB8AC3E}">
        <p14:creationId xmlns:p14="http://schemas.microsoft.com/office/powerpoint/2010/main" val="670671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2B882-4845-ACAE-CDDE-0C03A26AD945}"/>
              </a:ext>
            </a:extLst>
          </p:cNvPr>
          <p:cNvSpPr>
            <a:spLocks noGrp="1"/>
          </p:cNvSpPr>
          <p:nvPr>
            <p:ph type="title"/>
          </p:nvPr>
        </p:nvSpPr>
        <p:spPr/>
        <p:txBody>
          <a:bodyPr/>
          <a:lstStyle/>
          <a:p>
            <a:r>
              <a:rPr lang="en-US" dirty="0"/>
              <a:t>THE typical and Alternative approach</a:t>
            </a:r>
          </a:p>
        </p:txBody>
      </p:sp>
      <p:sp>
        <p:nvSpPr>
          <p:cNvPr id="3" name="Content Placeholder 2">
            <a:extLst>
              <a:ext uri="{FF2B5EF4-FFF2-40B4-BE49-F238E27FC236}">
                <a16:creationId xmlns:a16="http://schemas.microsoft.com/office/drawing/2014/main" id="{0CB0DADE-01E3-5367-B567-DC427A6AFFA2}"/>
              </a:ext>
            </a:extLst>
          </p:cNvPr>
          <p:cNvSpPr>
            <a:spLocks noGrp="1"/>
          </p:cNvSpPr>
          <p:nvPr>
            <p:ph idx="1"/>
          </p:nvPr>
        </p:nvSpPr>
        <p:spPr>
          <a:xfrm>
            <a:off x="1141412" y="1797001"/>
            <a:ext cx="9905999" cy="3541714"/>
          </a:xfrm>
        </p:spPr>
        <p:txBody>
          <a:bodyPr/>
          <a:lstStyle/>
          <a:p>
            <a:r>
              <a:rPr lang="en-US" dirty="0"/>
              <a:t>block ciphers typically use functions that simulate randomly permuted tables.</a:t>
            </a:r>
          </a:p>
        </p:txBody>
      </p:sp>
      <p:pic>
        <p:nvPicPr>
          <p:cNvPr id="5" name="Picture 4">
            <a:extLst>
              <a:ext uri="{FF2B5EF4-FFF2-40B4-BE49-F238E27FC236}">
                <a16:creationId xmlns:a16="http://schemas.microsoft.com/office/drawing/2014/main" id="{05ED9F7E-C7CC-678F-CD6A-B4B9D3D45C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8526" y="2445349"/>
            <a:ext cx="6111770" cy="3330229"/>
          </a:xfrm>
          <a:prstGeom prst="rect">
            <a:avLst/>
          </a:prstGeom>
        </p:spPr>
      </p:pic>
    </p:spTree>
    <p:extLst>
      <p:ext uri="{BB962C8B-B14F-4D97-AF65-F5344CB8AC3E}">
        <p14:creationId xmlns:p14="http://schemas.microsoft.com/office/powerpoint/2010/main" val="3072066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CE62A-9B13-A7B8-103C-E0C3B62D1E15}"/>
              </a:ext>
            </a:extLst>
          </p:cNvPr>
          <p:cNvSpPr>
            <a:spLocks noGrp="1"/>
          </p:cNvSpPr>
          <p:nvPr>
            <p:ph type="title"/>
          </p:nvPr>
        </p:nvSpPr>
        <p:spPr/>
        <p:txBody>
          <a:bodyPr/>
          <a:lstStyle/>
          <a:p>
            <a:r>
              <a:rPr lang="en-US" dirty="0"/>
              <a:t>Cipher block chaining</a:t>
            </a:r>
          </a:p>
        </p:txBody>
      </p:sp>
      <p:sp>
        <p:nvSpPr>
          <p:cNvPr id="3" name="Content Placeholder 2">
            <a:extLst>
              <a:ext uri="{FF2B5EF4-FFF2-40B4-BE49-F238E27FC236}">
                <a16:creationId xmlns:a16="http://schemas.microsoft.com/office/drawing/2014/main" id="{79527D82-B65A-12E3-4778-EAFD73914DB9}"/>
              </a:ext>
            </a:extLst>
          </p:cNvPr>
          <p:cNvSpPr>
            <a:spLocks noGrp="1"/>
          </p:cNvSpPr>
          <p:nvPr>
            <p:ph idx="1"/>
          </p:nvPr>
        </p:nvSpPr>
        <p:spPr/>
        <p:txBody>
          <a:bodyPr>
            <a:normAutofit fontScale="92500" lnSpcReduction="10000"/>
          </a:bodyPr>
          <a:lstStyle/>
          <a:p>
            <a:pPr marL="0" indent="0">
              <a:buNone/>
            </a:pPr>
            <a:r>
              <a:rPr lang="en-US" dirty="0"/>
              <a:t>In computer networking applications, we typically need to encrypt long messages or long streams of data. If we apply a block cipher as described by simply chopping up the message into k-bit blocks and independently encrypting each block, a subtle but important problem occurs. To see this, observe that two or more of the cleartext blocks can be identical. For example, the cleartext in two or more blocks could be “HTTP/1.1”. For these identical blocks, a block cipher would, of course, produce the same ciphertext. An attacker could potentially guess the cleartext when it sees identical ciphertext blocks and may even be able to decrypt the entire message by identifying identical ciphertext blocks and using knowledge about the underlying protocol structure</a:t>
            </a:r>
          </a:p>
        </p:txBody>
      </p:sp>
    </p:spTree>
    <p:extLst>
      <p:ext uri="{BB962C8B-B14F-4D97-AF65-F5344CB8AC3E}">
        <p14:creationId xmlns:p14="http://schemas.microsoft.com/office/powerpoint/2010/main" val="4008918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0608-DFCA-40A3-56F1-2FCF2B6CD970}"/>
              </a:ext>
            </a:extLst>
          </p:cNvPr>
          <p:cNvSpPr>
            <a:spLocks noGrp="1"/>
          </p:cNvSpPr>
          <p:nvPr>
            <p:ph type="title"/>
          </p:nvPr>
        </p:nvSpPr>
        <p:spPr/>
        <p:txBody>
          <a:bodyPr/>
          <a:lstStyle/>
          <a:p>
            <a:r>
              <a:rPr lang="en-US" dirty="0"/>
              <a:t>Add some randomness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09E065-A8F6-B9A3-5D6E-9FC90E0AD344}"/>
                  </a:ext>
                </a:extLst>
              </p:cNvPr>
              <p:cNvSpPr>
                <a:spLocks noGrp="1"/>
              </p:cNvSpPr>
              <p:nvPr>
                <p:ph idx="1"/>
              </p:nvPr>
            </p:nvSpPr>
            <p:spPr>
              <a:xfrm>
                <a:off x="1141412" y="1819373"/>
                <a:ext cx="9905999" cy="3971828"/>
              </a:xfrm>
            </p:spPr>
            <p:txBody>
              <a:bodyPr/>
              <a:lstStyle/>
              <a:p>
                <a:pPr marL="0" indent="0">
                  <a:buNone/>
                </a:pPr>
                <a:r>
                  <a:rPr lang="en-US" dirty="0"/>
                  <a:t>M(</a:t>
                </a:r>
                <a:r>
                  <a:rPr lang="en-US" dirty="0" err="1"/>
                  <a:t>i</a:t>
                </a:r>
                <a:r>
                  <a:rPr lang="en-US" dirty="0"/>
                  <a:t>): </a:t>
                </a:r>
                <a:r>
                  <a:rPr lang="en-US" dirty="0" err="1"/>
                  <a:t>ith</a:t>
                </a:r>
                <a:r>
                  <a:rPr lang="en-US" dirty="0"/>
                  <a:t> plaintext block    C(</a:t>
                </a:r>
                <a:r>
                  <a:rPr lang="en-US" dirty="0" err="1"/>
                  <a:t>i</a:t>
                </a:r>
                <a:r>
                  <a:rPr lang="en-US" dirty="0"/>
                  <a:t>): </a:t>
                </a:r>
                <a:r>
                  <a:rPr lang="en-US" dirty="0" err="1"/>
                  <a:t>ith</a:t>
                </a:r>
                <a:r>
                  <a:rPr lang="en-US" dirty="0"/>
                  <a:t> ciphertext block    a </a:t>
                </a:r>
                <a:r>
                  <a:rPr lang="en-US" dirty="0" err="1"/>
                  <a:t>xor</a:t>
                </a:r>
                <a:r>
                  <a:rPr lang="en-US" dirty="0"/>
                  <a:t> b: Exclusive-OR (XOR)</a:t>
                </a:r>
              </a:p>
              <a:p>
                <a:pPr marL="0" indent="0">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𝑠</m:t>
                        </m:r>
                      </m:sub>
                    </m:sSub>
                  </m:oMath>
                </a14:m>
                <a:r>
                  <a:rPr lang="en-US" dirty="0"/>
                  <a:t>: the encryption algorithm with key S</a:t>
                </a:r>
              </a:p>
              <a:p>
                <a:pPr marL="0" indent="0">
                  <a:buNone/>
                </a:pPr>
                <a:r>
                  <a:rPr lang="en-US" dirty="0"/>
                  <a:t>The sender creates a random k-bit number say R(</a:t>
                </a:r>
                <a:r>
                  <a:rPr lang="en-US" dirty="0" err="1"/>
                  <a:t>i</a:t>
                </a:r>
                <a:r>
                  <a:rPr lang="en-US" dirty="0"/>
                  <a:t>) and then calculates </a:t>
                </a:r>
              </a:p>
              <a:p>
                <a:pPr marL="0" indent="0">
                  <a:buNone/>
                </a:pPr>
                <a:r>
                  <a:rPr lang="en-US" dirty="0"/>
                  <a:t>M(</a:t>
                </a:r>
                <a:r>
                  <a:rPr lang="en-US" dirty="0" err="1"/>
                  <a:t>i</a:t>
                </a:r>
                <a:r>
                  <a:rPr lang="en-US" dirty="0"/>
                  <a:t>) </a:t>
                </a:r>
                <a:r>
                  <a:rPr lang="en-US" dirty="0" err="1"/>
                  <a:t>xor</a:t>
                </a:r>
                <a:r>
                  <a:rPr lang="en-US" dirty="0"/>
                  <a:t> R(</a:t>
                </a:r>
                <a:r>
                  <a:rPr lang="en-US" dirty="0" err="1"/>
                  <a:t>i</a:t>
                </a:r>
                <a:r>
                  <a:rPr lang="en-US" dirty="0"/>
                  <a:t>) then encrypts it using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𝑠</m:t>
                        </m:r>
                      </m:sub>
                    </m:sSub>
                  </m:oMath>
                </a14:m>
                <a:r>
                  <a:rPr lang="en-US" dirty="0"/>
                  <a:t>, C(</a:t>
                </a:r>
                <a:r>
                  <a:rPr lang="en-US" dirty="0" err="1"/>
                  <a:t>i</a:t>
                </a:r>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𝑠</m:t>
                        </m:r>
                      </m:sub>
                    </m:sSub>
                    <m:d>
                      <m:dPr>
                        <m:ctrlPr>
                          <a:rPr lang="en-US" b="0" i="1" smtClean="0">
                            <a:latin typeface="Cambria Math" panose="02040503050406030204" pitchFamily="18" charset="0"/>
                          </a:rPr>
                        </m:ctrlPr>
                      </m:dPr>
                      <m:e>
                        <m:r>
                          <m:rPr>
                            <m:nor/>
                          </m:rPr>
                          <a:rPr lang="en-US" dirty="0"/>
                          <m:t>M</m:t>
                        </m:r>
                        <m:r>
                          <m:rPr>
                            <m:nor/>
                          </m:rPr>
                          <a:rPr lang="en-US" dirty="0"/>
                          <m:t>(</m:t>
                        </m:r>
                        <m:r>
                          <m:rPr>
                            <m:nor/>
                          </m:rPr>
                          <a:rPr lang="en-US" dirty="0"/>
                          <m:t>i</m:t>
                        </m:r>
                        <m:r>
                          <m:rPr>
                            <m:nor/>
                          </m:rPr>
                          <a:rPr lang="en-US" dirty="0"/>
                          <m:t>) </m:t>
                        </m:r>
                        <m:r>
                          <m:rPr>
                            <m:nor/>
                          </m:rPr>
                          <a:rPr lang="en-US" dirty="0"/>
                          <m:t>xor</m:t>
                        </m:r>
                        <m:r>
                          <m:rPr>
                            <m:nor/>
                          </m:rPr>
                          <a:rPr lang="en-US" dirty="0"/>
                          <m:t> </m:t>
                        </m:r>
                        <m:r>
                          <m:rPr>
                            <m:nor/>
                          </m:rPr>
                          <a:rPr lang="en-US" dirty="0"/>
                          <m:t>R</m:t>
                        </m:r>
                        <m:r>
                          <m:rPr>
                            <m:nor/>
                          </m:rPr>
                          <a:rPr lang="en-US" dirty="0"/>
                          <m:t>(</m:t>
                        </m:r>
                        <m:r>
                          <m:rPr>
                            <m:nor/>
                          </m:rPr>
                          <a:rPr lang="en-US" dirty="0"/>
                          <m:t>i</m:t>
                        </m:r>
                        <m:r>
                          <m:rPr>
                            <m:nor/>
                          </m:rPr>
                          <a:rPr lang="en-US" dirty="0"/>
                          <m:t>)</m:t>
                        </m:r>
                      </m:e>
                    </m:d>
                    <m:r>
                      <a:rPr lang="en-US" b="0" i="0" dirty="0" smtClean="0">
                        <a:latin typeface="Cambria Math" panose="02040503050406030204" pitchFamily="18" charset="0"/>
                      </a:rPr>
                      <m:t>.</m:t>
                    </m:r>
                  </m:oMath>
                </a14:m>
                <a:r>
                  <a:rPr lang="en-US" dirty="0"/>
                  <a:t> The sender then sends C(1) R(1) C(2) R(2) C(3) R(3) … . the receiver then recovers the original blocks by computing M(</a:t>
                </a:r>
                <a:r>
                  <a:rPr lang="en-US" dirty="0" err="1"/>
                  <a:t>i</a:t>
                </a:r>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𝑠</m:t>
                        </m:r>
                      </m:sub>
                    </m:sSub>
                    <m:r>
                      <a:rPr lang="en-US" b="0" i="1" smtClean="0">
                        <a:latin typeface="Cambria Math" panose="02040503050406030204" pitchFamily="18" charset="0"/>
                      </a:rPr>
                      <m:t>(</m:t>
                    </m:r>
                    <m:r>
                      <m:rPr>
                        <m:nor/>
                      </m:rPr>
                      <a:rPr lang="en-US"/>
                      <m:t>C</m:t>
                    </m:r>
                    <m:r>
                      <m:rPr>
                        <m:nor/>
                      </m:rPr>
                      <a:rPr lang="en-US"/>
                      <m:t>(</m:t>
                    </m:r>
                    <m:r>
                      <m:rPr>
                        <m:nor/>
                      </m:rPr>
                      <a:rPr lang="en-US" b="0" i="0" smtClean="0"/>
                      <m:t>i</m:t>
                    </m:r>
                    <m:r>
                      <m:rPr>
                        <m:nor/>
                      </m:rPr>
                      <a:rPr lang="en-US"/>
                      <m:t>)</m:t>
                    </m:r>
                    <m:r>
                      <m:rPr>
                        <m:nor/>
                      </m:rPr>
                      <a:rPr lang="en-US" b="0" i="0" smtClean="0">
                        <a:latin typeface="Cambria Math" panose="02040503050406030204" pitchFamily="18" charset="0"/>
                      </a:rPr>
                      <m:t>)</m:t>
                    </m:r>
                  </m:oMath>
                </a14:m>
                <a:r>
                  <a:rPr lang="en-US" dirty="0"/>
                  <a:t>) </a:t>
                </a:r>
                <a:r>
                  <a:rPr lang="en-US" dirty="0" err="1"/>
                  <a:t>xor</a:t>
                </a:r>
                <a:r>
                  <a:rPr lang="en-US" dirty="0"/>
                  <a:t> R(</a:t>
                </a:r>
                <a:r>
                  <a:rPr lang="en-US" dirty="0" err="1"/>
                  <a:t>i</a:t>
                </a:r>
                <a:r>
                  <a:rPr lang="en-US" dirty="0"/>
                  <a:t>) . </a:t>
                </a:r>
              </a:p>
              <a:p>
                <a:pPr marL="0" indent="0">
                  <a:buNone/>
                </a:pPr>
                <a:r>
                  <a:rPr lang="en-US" b="1" u="sng" dirty="0"/>
                  <a:t>Is it good enough?</a:t>
                </a:r>
              </a:p>
            </p:txBody>
          </p:sp>
        </mc:Choice>
        <mc:Fallback xmlns="">
          <p:sp>
            <p:nvSpPr>
              <p:cNvPr id="3" name="Content Placeholder 2">
                <a:extLst>
                  <a:ext uri="{FF2B5EF4-FFF2-40B4-BE49-F238E27FC236}">
                    <a16:creationId xmlns:a16="http://schemas.microsoft.com/office/drawing/2014/main" id="{3609E065-A8F6-B9A3-5D6E-9FC90E0AD344}"/>
                  </a:ext>
                </a:extLst>
              </p:cNvPr>
              <p:cNvSpPr>
                <a:spLocks noGrp="1" noRot="1" noChangeAspect="1" noMove="1" noResize="1" noEditPoints="1" noAdjustHandles="1" noChangeArrowheads="1" noChangeShapeType="1" noTextEdit="1"/>
              </p:cNvSpPr>
              <p:nvPr>
                <p:ph idx="1"/>
              </p:nvPr>
            </p:nvSpPr>
            <p:spPr>
              <a:xfrm>
                <a:off x="1141412" y="1819373"/>
                <a:ext cx="9905999" cy="3971828"/>
              </a:xfrm>
              <a:blipFill>
                <a:blip r:embed="rId2"/>
                <a:stretch>
                  <a:fillRect l="-923" t="-153" r="-923"/>
                </a:stretch>
              </a:blipFill>
            </p:spPr>
            <p:txBody>
              <a:bodyPr/>
              <a:lstStyle/>
              <a:p>
                <a:r>
                  <a:rPr lang="en-US">
                    <a:noFill/>
                  </a:rPr>
                  <a:t> </a:t>
                </a:r>
              </a:p>
            </p:txBody>
          </p:sp>
        </mc:Fallback>
      </mc:AlternateContent>
    </p:spTree>
    <p:extLst>
      <p:ext uri="{BB962C8B-B14F-4D97-AF65-F5344CB8AC3E}">
        <p14:creationId xmlns:p14="http://schemas.microsoft.com/office/powerpoint/2010/main" val="3082430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2F78A-EA29-E4A2-9D07-25006A8D918C}"/>
              </a:ext>
            </a:extLst>
          </p:cNvPr>
          <p:cNvSpPr>
            <a:spLocks noGrp="1"/>
          </p:cNvSpPr>
          <p:nvPr>
            <p:ph type="title"/>
          </p:nvPr>
        </p:nvSpPr>
        <p:spPr/>
        <p:txBody>
          <a:bodyPr/>
          <a:lstStyle/>
          <a:p>
            <a:r>
              <a:rPr lang="en-US" dirty="0"/>
              <a:t>even better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4ADC80F-00B4-CD8C-2385-E16932F3CFC5}"/>
                  </a:ext>
                </a:extLst>
              </p:cNvPr>
              <p:cNvSpPr>
                <a:spLocks noGrp="1"/>
              </p:cNvSpPr>
              <p:nvPr>
                <p:ph idx="1"/>
              </p:nvPr>
            </p:nvSpPr>
            <p:spPr/>
            <p:txBody>
              <a:bodyPr>
                <a:normAutofit fontScale="92500" lnSpcReduction="20000"/>
              </a:bodyPr>
              <a:lstStyle/>
              <a:p>
                <a:pPr marL="457200" indent="-457200">
                  <a:buFont typeface="+mj-lt"/>
                  <a:buAutoNum type="arabicPeriod"/>
                </a:pPr>
                <a:r>
                  <a:rPr lang="en-US" dirty="0"/>
                  <a:t>Before encrypting the message (or the stream of data), the sender generates a random k-bit string, called the </a:t>
                </a:r>
                <a:r>
                  <a:rPr lang="en-US" b="1" dirty="0"/>
                  <a:t>Initialization Vector (IV). </a:t>
                </a:r>
                <a:r>
                  <a:rPr lang="en-US" dirty="0"/>
                  <a:t>Denote this initialization vector by C(0). The sender sends the IV to the receiver in cleartext.</a:t>
                </a:r>
              </a:p>
              <a:p>
                <a:pPr marL="457200" indent="-457200">
                  <a:buFont typeface="+mj-lt"/>
                  <a:buAutoNum type="arabicPeriod"/>
                </a:pPr>
                <a:r>
                  <a:rPr lang="en-US" dirty="0"/>
                  <a:t>For the first block, the sender calculates M(1) </a:t>
                </a:r>
                <a:r>
                  <a:rPr lang="en-US" dirty="0" err="1"/>
                  <a:t>xor</a:t>
                </a:r>
                <a:r>
                  <a:rPr lang="en-US" dirty="0"/>
                  <a:t> C(0), that is, calculates the exclusive-or of the first block of cleartext with the IV. It then runs the result through the block-cipher algorithm to get the corresponding ciphertext block; that is, C(1)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𝑠</m:t>
                        </m:r>
                      </m:sub>
                    </m:sSub>
                    <m:r>
                      <a:rPr lang="en-US" i="1">
                        <a:latin typeface="Cambria Math" panose="02040503050406030204" pitchFamily="18" charset="0"/>
                      </a:rPr>
                      <m:t>(</m:t>
                    </m:r>
                    <m:r>
                      <m:rPr>
                        <m:nor/>
                      </m:rPr>
                      <a:rPr lang="en-US" dirty="0"/>
                      <m:t>M</m:t>
                    </m:r>
                    <m:r>
                      <m:rPr>
                        <m:nor/>
                      </m:rPr>
                      <a:rPr lang="en-US"/>
                      <m:t>(</m:t>
                    </m:r>
                    <m:r>
                      <m:rPr>
                        <m:nor/>
                      </m:rPr>
                      <a:rPr lang="en-US" b="0" i="0" smtClean="0"/>
                      <m:t>1</m:t>
                    </m:r>
                    <m:r>
                      <m:rPr>
                        <m:nor/>
                      </m:rPr>
                      <a:rPr lang="en-US"/>
                      <m:t>)</m:t>
                    </m:r>
                    <m:r>
                      <m:rPr>
                        <m:nor/>
                      </m:rPr>
                      <a:rPr lang="en-US" b="0" i="0" smtClean="0">
                        <a:latin typeface="Cambria Math" panose="02040503050406030204" pitchFamily="18" charset="0"/>
                      </a:rPr>
                      <m:t> </m:t>
                    </m:r>
                  </m:oMath>
                </a14:m>
                <a:r>
                  <a:rPr lang="en-US" dirty="0" err="1"/>
                  <a:t>xor</a:t>
                </a:r>
                <a:r>
                  <a:rPr lang="en-US" dirty="0"/>
                  <a:t> C(0)). The sender sends the encrypted block C(1) to the receiver.</a:t>
                </a:r>
              </a:p>
              <a:p>
                <a:pPr marL="457200" indent="-457200">
                  <a:buFont typeface="+mj-lt"/>
                  <a:buAutoNum type="arabicPeriod"/>
                </a:pPr>
                <a:r>
                  <a:rPr lang="en-US" dirty="0"/>
                  <a:t>For the </a:t>
                </a:r>
                <a:r>
                  <a:rPr lang="en-US" dirty="0" err="1"/>
                  <a:t>ith</a:t>
                </a:r>
                <a:r>
                  <a:rPr lang="en-US" dirty="0"/>
                  <a:t> block, the sender generates the </a:t>
                </a:r>
                <a:r>
                  <a:rPr lang="en-US" dirty="0" err="1"/>
                  <a:t>ith</a:t>
                </a:r>
                <a:r>
                  <a:rPr lang="en-US" dirty="0"/>
                  <a:t> ciphertext block from                    c(</a:t>
                </a:r>
                <a:r>
                  <a:rPr lang="en-US" dirty="0" err="1"/>
                  <a:t>i</a:t>
                </a:r>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𝑠</m:t>
                        </m:r>
                      </m:sub>
                    </m:sSub>
                    <m:r>
                      <a:rPr lang="en-US" i="1">
                        <a:latin typeface="Cambria Math" panose="02040503050406030204" pitchFamily="18" charset="0"/>
                      </a:rPr>
                      <m:t>(</m:t>
                    </m:r>
                    <m:r>
                      <m:rPr>
                        <m:nor/>
                      </m:rPr>
                      <a:rPr lang="en-US" dirty="0"/>
                      <m:t>M</m:t>
                    </m:r>
                    <m:r>
                      <m:rPr>
                        <m:nor/>
                      </m:rPr>
                      <a:rPr lang="en-US"/>
                      <m:t>(</m:t>
                    </m:r>
                    <m:r>
                      <m:rPr>
                        <m:nor/>
                      </m:rPr>
                      <a:rPr lang="en-US" b="0" i="0" smtClean="0"/>
                      <m:t>i</m:t>
                    </m:r>
                    <m:r>
                      <m:rPr>
                        <m:nor/>
                      </m:rPr>
                      <a:rPr lang="en-US"/>
                      <m:t>)</m:t>
                    </m:r>
                    <m:r>
                      <m:rPr>
                        <m:nor/>
                      </m:rPr>
                      <a:rPr lang="en-US">
                        <a:latin typeface="Cambria Math" panose="02040503050406030204" pitchFamily="18" charset="0"/>
                      </a:rPr>
                      <m:t> </m:t>
                    </m:r>
                  </m:oMath>
                </a14:m>
                <a:r>
                  <a:rPr lang="en-US" dirty="0" err="1"/>
                  <a:t>xor</a:t>
                </a:r>
                <a:r>
                  <a:rPr lang="en-US" dirty="0"/>
                  <a:t> C(i-1)).</a:t>
                </a:r>
              </a:p>
            </p:txBody>
          </p:sp>
        </mc:Choice>
        <mc:Fallback>
          <p:sp>
            <p:nvSpPr>
              <p:cNvPr id="3" name="Content Placeholder 2">
                <a:extLst>
                  <a:ext uri="{FF2B5EF4-FFF2-40B4-BE49-F238E27FC236}">
                    <a16:creationId xmlns:a16="http://schemas.microsoft.com/office/drawing/2014/main" id="{44ADC80F-00B4-CD8C-2385-E16932F3CFC5}"/>
                  </a:ext>
                </a:extLst>
              </p:cNvPr>
              <p:cNvSpPr>
                <a:spLocks noGrp="1" noRot="1" noChangeAspect="1" noMove="1" noResize="1" noEditPoints="1" noAdjustHandles="1" noChangeArrowheads="1" noChangeShapeType="1" noTextEdit="1"/>
              </p:cNvSpPr>
              <p:nvPr>
                <p:ph idx="1"/>
              </p:nvPr>
            </p:nvSpPr>
            <p:spPr>
              <a:blipFill>
                <a:blip r:embed="rId2"/>
                <a:stretch>
                  <a:fillRect l="-985" t="-2410" r="-1477"/>
                </a:stretch>
              </a:blipFill>
            </p:spPr>
            <p:txBody>
              <a:bodyPr/>
              <a:lstStyle/>
              <a:p>
                <a:r>
                  <a:rPr lang="en-US">
                    <a:noFill/>
                  </a:rPr>
                  <a:t> </a:t>
                </a:r>
              </a:p>
            </p:txBody>
          </p:sp>
        </mc:Fallback>
      </mc:AlternateContent>
    </p:spTree>
    <p:extLst>
      <p:ext uri="{BB962C8B-B14F-4D97-AF65-F5344CB8AC3E}">
        <p14:creationId xmlns:p14="http://schemas.microsoft.com/office/powerpoint/2010/main" val="861955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6635C-CF22-F18C-7EF4-EEB5BEFCEE11}"/>
              </a:ext>
            </a:extLst>
          </p:cNvPr>
          <p:cNvSpPr>
            <a:spLocks noGrp="1"/>
          </p:cNvSpPr>
          <p:nvPr>
            <p:ph type="title"/>
          </p:nvPr>
        </p:nvSpPr>
        <p:spPr>
          <a:xfrm>
            <a:off x="1143001" y="279154"/>
            <a:ext cx="9905998" cy="1478570"/>
          </a:xfrm>
        </p:spPr>
        <p:txBody>
          <a:bodyPr/>
          <a:lstStyle/>
          <a:p>
            <a:r>
              <a:rPr lang="en-US" dirty="0"/>
              <a:t>Public key encryption</a:t>
            </a:r>
          </a:p>
        </p:txBody>
      </p:sp>
      <p:pic>
        <p:nvPicPr>
          <p:cNvPr id="5" name="Picture 4">
            <a:extLst>
              <a:ext uri="{FF2B5EF4-FFF2-40B4-BE49-F238E27FC236}">
                <a16:creationId xmlns:a16="http://schemas.microsoft.com/office/drawing/2014/main" id="{DD2C2E59-BDB6-9C26-50EA-E74DA02D3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6053" y="1632859"/>
            <a:ext cx="4800891" cy="3313963"/>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5390112-B1AF-ADF6-B18E-CD587DB9FBCE}"/>
                  </a:ext>
                </a:extLst>
              </p:cNvPr>
              <p:cNvSpPr txBox="1"/>
              <p:nvPr/>
            </p:nvSpPr>
            <p:spPr>
              <a:xfrm>
                <a:off x="896316" y="1757724"/>
                <a:ext cx="5872130" cy="3693319"/>
              </a:xfrm>
              <a:prstGeom prst="rect">
                <a:avLst/>
              </a:prstGeom>
              <a:noFill/>
            </p:spPr>
            <p:txBody>
              <a:bodyPr wrap="square" rtlCol="0">
                <a:spAutoFit/>
              </a:bodyPr>
              <a:lstStyle/>
              <a:p>
                <a:pPr marL="285750" indent="-285750">
                  <a:buFont typeface="Wingdings" panose="05000000000000000000" pitchFamily="2" charset="2"/>
                  <a:buChar char="ü"/>
                </a:pPr>
                <a:r>
                  <a:rPr lang="en-US" dirty="0"/>
                  <a:t>Bob has two keys :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𝐾</m:t>
                        </m:r>
                      </m:e>
                      <m:sub>
                        <m:r>
                          <a:rPr lang="en-US" b="0" i="1" smtClean="0">
                            <a:latin typeface="Cambria Math" panose="02040503050406030204" pitchFamily="18" charset="0"/>
                          </a:rPr>
                          <m:t>𝐵</m:t>
                        </m:r>
                      </m:sub>
                      <m:sup>
                        <m:r>
                          <a:rPr lang="en-US" b="0" i="1" smtClean="0">
                            <a:latin typeface="Cambria Math" panose="02040503050406030204" pitchFamily="18" charset="0"/>
                          </a:rPr>
                          <m:t>+</m:t>
                        </m:r>
                      </m:sup>
                    </m:sSubSup>
                  </m:oMath>
                </a14:m>
                <a:r>
                  <a:rPr lang="en-US" dirty="0"/>
                  <a:t> (public key)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b="0" i="1" smtClean="0">
                            <a:latin typeface="Cambria Math" panose="02040503050406030204" pitchFamily="18" charset="0"/>
                          </a:rPr>
                          <m:t>−</m:t>
                        </m:r>
                      </m:sup>
                    </m:sSubSup>
                  </m:oMath>
                </a14:m>
                <a:r>
                  <a:rPr lang="en-US" dirty="0"/>
                  <a:t> (public key)</a:t>
                </a:r>
              </a:p>
              <a:p>
                <a:pPr marL="285750" indent="-285750">
                  <a:buFont typeface="Wingdings" panose="05000000000000000000" pitchFamily="2" charset="2"/>
                  <a:buChar char="ü"/>
                </a:pPr>
                <a:r>
                  <a:rPr lang="en-US" dirty="0"/>
                  <a:t>Alice encrypts the message using Bob’s public key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(M)</a:t>
                </a:r>
              </a:p>
              <a:p>
                <a:pPr marL="285750" indent="-285750">
                  <a:buFont typeface="Wingdings" panose="05000000000000000000" pitchFamily="2" charset="2"/>
                  <a:buChar char="ü"/>
                </a:pPr>
                <a:r>
                  <a:rPr lang="en-US" dirty="0"/>
                  <a:t>Bob decrypts the message using his private key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b="0" i="1" smtClean="0">
                            <a:latin typeface="Cambria Math" panose="02040503050406030204" pitchFamily="18" charset="0"/>
                          </a:rPr>
                          <m:t>−</m:t>
                        </m:r>
                      </m:sup>
                    </m:sSubSup>
                  </m:oMath>
                </a14:m>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b="0" i="1" smtClean="0">
                            <a:latin typeface="Cambria Math" panose="02040503050406030204" pitchFamily="18" charset="0"/>
                          </a:rPr>
                          <m:t>−</m:t>
                        </m:r>
                      </m:sup>
                    </m:sSubSup>
                  </m:oMath>
                </a14:m>
                <a:r>
                  <a:rPr lang="en-US" dirty="0"/>
                  <a:t>(</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(M)) =  M</a:t>
                </a:r>
              </a:p>
              <a:p>
                <a:pPr marL="285750" indent="-285750">
                  <a:buFont typeface="Wingdings" panose="05000000000000000000" pitchFamily="2" charset="2"/>
                  <a:buChar char="ü"/>
                </a:pPr>
                <a:endParaRPr lang="en-US" dirty="0"/>
              </a:p>
              <a:p>
                <a:pPr marL="285750" indent="-285750">
                  <a:buFont typeface="Arial" panose="020B0604020202020204" pitchFamily="34" charset="0"/>
                  <a:buChar char="•"/>
                </a:pPr>
                <a:r>
                  <a:rPr lang="en-US" dirty="0"/>
                  <a:t>There are encryption/decryption algorithms and techniques for choosing public and private keys such that:</a:t>
                </a:r>
              </a:p>
              <a:p>
                <a:r>
                  <a:rPr lang="en-US" dirty="0"/>
                  <a:t> </a:t>
                </a:r>
              </a:p>
              <a:p>
                <a:r>
                  <a:rPr lang="en-US" dirty="0"/>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(M)) = M</a:t>
                </a:r>
              </a:p>
              <a:p>
                <a:endParaRPr lang="en-US" dirty="0"/>
              </a:p>
              <a:p>
                <a:endParaRPr lang="en-US" dirty="0"/>
              </a:p>
              <a:p>
                <a:pPr marL="285750" indent="-285750">
                  <a:buFont typeface="Arial" panose="020B0604020202020204" pitchFamily="34" charset="0"/>
                  <a:buChar char="•"/>
                </a:pPr>
                <a:r>
                  <a:rPr lang="en-US" b="1" u="sng" dirty="0"/>
                  <a:t>But a problem would arise !! THE NEED FOR DIGITAL SIGNATURE BECOMES CRUCIAL</a:t>
                </a:r>
              </a:p>
            </p:txBody>
          </p:sp>
        </mc:Choice>
        <mc:Fallback>
          <p:sp>
            <p:nvSpPr>
              <p:cNvPr id="6" name="TextBox 5">
                <a:extLst>
                  <a:ext uri="{FF2B5EF4-FFF2-40B4-BE49-F238E27FC236}">
                    <a16:creationId xmlns:a16="http://schemas.microsoft.com/office/drawing/2014/main" id="{B5390112-B1AF-ADF6-B18E-CD587DB9FBCE}"/>
                  </a:ext>
                </a:extLst>
              </p:cNvPr>
              <p:cNvSpPr txBox="1">
                <a:spLocks noRot="1" noChangeAspect="1" noMove="1" noResize="1" noEditPoints="1" noAdjustHandles="1" noChangeArrowheads="1" noChangeShapeType="1" noTextEdit="1"/>
              </p:cNvSpPr>
              <p:nvPr/>
            </p:nvSpPr>
            <p:spPr>
              <a:xfrm>
                <a:off x="896316" y="1757724"/>
                <a:ext cx="5872130" cy="3693319"/>
              </a:xfrm>
              <a:prstGeom prst="rect">
                <a:avLst/>
              </a:prstGeom>
              <a:blipFill>
                <a:blip r:embed="rId3"/>
                <a:stretch>
                  <a:fillRect l="-623" t="-825" r="-1765" b="-1650"/>
                </a:stretch>
              </a:blipFill>
            </p:spPr>
            <p:txBody>
              <a:bodyPr/>
              <a:lstStyle/>
              <a:p>
                <a:r>
                  <a:rPr lang="en-US">
                    <a:noFill/>
                  </a:rPr>
                  <a:t> </a:t>
                </a:r>
              </a:p>
            </p:txBody>
          </p:sp>
        </mc:Fallback>
      </mc:AlternateContent>
    </p:spTree>
    <p:extLst>
      <p:ext uri="{BB962C8B-B14F-4D97-AF65-F5344CB8AC3E}">
        <p14:creationId xmlns:p14="http://schemas.microsoft.com/office/powerpoint/2010/main" val="30185792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32629-1EFF-31D2-ABB6-8D5A507504F9}"/>
              </a:ext>
            </a:extLst>
          </p:cNvPr>
          <p:cNvSpPr>
            <a:spLocks noGrp="1"/>
          </p:cNvSpPr>
          <p:nvPr>
            <p:ph type="title"/>
          </p:nvPr>
        </p:nvSpPr>
        <p:spPr>
          <a:xfrm>
            <a:off x="1141413" y="326288"/>
            <a:ext cx="9905998" cy="1478570"/>
          </a:xfrm>
        </p:spPr>
        <p:txBody>
          <a:bodyPr/>
          <a:lstStyle/>
          <a:p>
            <a:r>
              <a:rPr lang="en-US" dirty="0"/>
              <a:t>RSA Obeying PUBLIC ENCRYPTION KEY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D9CE07-6ABB-1767-4232-1882717142E5}"/>
                  </a:ext>
                </a:extLst>
              </p:cNvPr>
              <p:cNvSpPr>
                <a:spLocks noGrp="1"/>
              </p:cNvSpPr>
              <p:nvPr>
                <p:ph idx="1"/>
              </p:nvPr>
            </p:nvSpPr>
            <p:spPr>
              <a:xfrm>
                <a:off x="1442267" y="1702731"/>
                <a:ext cx="9605144" cy="4263374"/>
              </a:xfrm>
            </p:spPr>
            <p:txBody>
              <a:bodyPr>
                <a:normAutofit fontScale="77500" lnSpcReduction="20000"/>
              </a:bodyPr>
              <a:lstStyle/>
              <a:p>
                <a:pPr marL="457200" indent="-457200">
                  <a:buFont typeface="+mj-lt"/>
                  <a:buAutoNum type="arabicPeriod"/>
                </a:pPr>
                <a:r>
                  <a:rPr lang="en-US" dirty="0"/>
                  <a:t>Choose two large prime numbers, p and q.</a:t>
                </a:r>
              </a:p>
              <a:p>
                <a:pPr marL="457200" indent="-457200">
                  <a:buFont typeface="+mj-lt"/>
                  <a:buAutoNum type="arabicPeriod"/>
                </a:pPr>
                <a:r>
                  <a:rPr lang="en-US" dirty="0"/>
                  <a:t>Compute n = </a:t>
                </a:r>
                <a:r>
                  <a:rPr lang="en-US" dirty="0" err="1"/>
                  <a:t>pq</a:t>
                </a:r>
                <a:r>
                  <a:rPr lang="en-US" dirty="0"/>
                  <a:t> and z = (p - 1)(q - 1).</a:t>
                </a:r>
              </a:p>
              <a:p>
                <a:pPr marL="457200" indent="-457200">
                  <a:buFont typeface="+mj-lt"/>
                  <a:buAutoNum type="arabicPeriod"/>
                </a:pPr>
                <a:r>
                  <a:rPr lang="en-US" dirty="0"/>
                  <a:t>Choose a number, e (used for encryption), less than n that is relatively prime to z.</a:t>
                </a:r>
              </a:p>
              <a:p>
                <a:pPr marL="457200" indent="-457200">
                  <a:buFont typeface="+mj-lt"/>
                  <a:buAutoNum type="arabicPeriod"/>
                </a:pPr>
                <a:r>
                  <a:rPr lang="en-US" dirty="0"/>
                  <a:t>Find a number, d (used for decryption), such that ed mod z = 1</a:t>
                </a:r>
              </a:p>
              <a:p>
                <a:pPr marL="457200" indent="-457200">
                  <a:buFont typeface="+mj-lt"/>
                  <a:buAutoNum type="arabicPeriod"/>
                </a:pP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 = ( n , e ) is the public key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b="0" i="1" smtClean="0">
                            <a:latin typeface="Cambria Math" panose="02040503050406030204" pitchFamily="18" charset="0"/>
                          </a:rPr>
                          <m:t>−</m:t>
                        </m:r>
                      </m:sup>
                    </m:sSubSup>
                  </m:oMath>
                </a14:m>
                <a:r>
                  <a:rPr lang="en-US" dirty="0"/>
                  <a:t> = ( n , d )</a:t>
                </a:r>
              </a:p>
              <a:p>
                <a:pPr marL="0" indent="0">
                  <a:buNone/>
                </a:pPr>
                <a:r>
                  <a:rPr lang="en-US" b="1" u="sng" dirty="0"/>
                  <a:t>How does it work?</a:t>
                </a:r>
              </a:p>
              <a:p>
                <a:pPr marL="0" indent="0">
                  <a:buNone/>
                </a:pPr>
                <a:r>
                  <a:rPr lang="en-US" dirty="0"/>
                  <a:t>Suppose m is the number of the bit string to be transmitted (with m &lt; n).</a:t>
                </a:r>
              </a:p>
              <a:p>
                <a:pPr marL="0" indent="0">
                  <a:buNone/>
                </a:pPr>
                <a:r>
                  <a:rPr lang="en-US" dirty="0"/>
                  <a:t>Alice Computes c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𝑒</m:t>
                        </m:r>
                      </m:sup>
                    </m:sSup>
                  </m:oMath>
                </a14:m>
                <a:r>
                  <a:rPr lang="en-US" dirty="0"/>
                  <a:t> mod n and sends it to Bob.</a:t>
                </a:r>
              </a:p>
              <a:p>
                <a:pPr marL="0" indent="0">
                  <a:buNone/>
                </a:pPr>
                <a:r>
                  <a:rPr lang="en-US" dirty="0"/>
                  <a:t>Then bob decrypts the message using the property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𝑒𝑑</m:t>
                        </m:r>
                      </m:sup>
                    </m:sSup>
                  </m:oMath>
                </a14:m>
                <a:r>
                  <a:rPr lang="da-DK" dirty="0"/>
                  <a:t> mod n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m:rPr>
                            <m:nor/>
                          </m:rPr>
                          <a:rPr lang="da-DK"/>
                          <m:t>(</m:t>
                        </m:r>
                        <m:r>
                          <m:rPr>
                            <m:nor/>
                          </m:rPr>
                          <a:rPr lang="da-DK"/>
                          <m:t>ed</m:t>
                        </m:r>
                        <m:r>
                          <m:rPr>
                            <m:nor/>
                          </m:rPr>
                          <a:rPr lang="da-DK"/>
                          <m:t> </m:t>
                        </m:r>
                        <m:r>
                          <m:rPr>
                            <m:nor/>
                          </m:rPr>
                          <a:rPr lang="da-DK"/>
                          <m:t>mod</m:t>
                        </m:r>
                        <m:r>
                          <m:rPr>
                            <m:nor/>
                          </m:rPr>
                          <a:rPr lang="da-DK"/>
                          <m:t> </m:t>
                        </m:r>
                        <m:r>
                          <m:rPr>
                            <m:nor/>
                          </m:rPr>
                          <a:rPr lang="da-DK"/>
                          <m:t>z</m:t>
                        </m:r>
                        <m:r>
                          <m:rPr>
                            <m:nor/>
                          </m:rPr>
                          <a:rPr lang="da-DK"/>
                          <m:t>)</m:t>
                        </m:r>
                      </m:sup>
                    </m:sSup>
                  </m:oMath>
                </a14:m>
                <a:r>
                  <a:rPr lang="da-DK" dirty="0"/>
                  <a:t> mod n</a:t>
                </a:r>
              </a:p>
              <a:p>
                <a:pPr marL="0" indent="0">
                  <a:buNone/>
                </a:pPr>
                <a:r>
                  <a:rPr lang="en-US" dirty="0"/>
                  <a:t>m =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𝑑</m:t>
                        </m:r>
                      </m:sup>
                    </m:sSup>
                  </m:oMath>
                </a14:m>
                <a:r>
                  <a:rPr lang="da-DK" dirty="0"/>
                  <a:t> mod n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𝑒𝑑</m:t>
                        </m:r>
                      </m:sup>
                    </m:sSup>
                  </m:oMath>
                </a14:m>
                <a:r>
                  <a:rPr lang="da-DK" dirty="0"/>
                  <a:t> mod n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m:rPr>
                            <m:nor/>
                          </m:rPr>
                          <a:rPr lang="da-DK"/>
                          <m:t>(</m:t>
                        </m:r>
                        <m:r>
                          <m:rPr>
                            <m:nor/>
                          </m:rPr>
                          <a:rPr lang="en-US" b="0" i="0" smtClean="0"/>
                          <m:t>ed</m:t>
                        </m:r>
                        <m:r>
                          <m:rPr>
                            <m:nor/>
                          </m:rPr>
                          <a:rPr lang="da-DK" smtClean="0"/>
                          <m:t> </m:t>
                        </m:r>
                        <m:r>
                          <m:rPr>
                            <m:nor/>
                          </m:rPr>
                          <a:rPr lang="da-DK"/>
                          <m:t>mod</m:t>
                        </m:r>
                        <m:r>
                          <m:rPr>
                            <m:nor/>
                          </m:rPr>
                          <a:rPr lang="da-DK"/>
                          <m:t> </m:t>
                        </m:r>
                        <m:r>
                          <m:rPr>
                            <m:nor/>
                          </m:rPr>
                          <a:rPr lang="da-DK"/>
                          <m:t>z</m:t>
                        </m:r>
                        <m:r>
                          <m:rPr>
                            <m:nor/>
                          </m:rPr>
                          <a:rPr lang="da-DK"/>
                          <m:t>)</m:t>
                        </m:r>
                      </m:sup>
                    </m:sSup>
                  </m:oMath>
                </a14:m>
                <a:r>
                  <a:rPr lang="da-DK" dirty="0"/>
                  <a:t> mod n = m mod n = m</a:t>
                </a:r>
              </a:p>
              <a:p>
                <a:pPr marL="0" indent="0">
                  <a:buNone/>
                </a:pPr>
                <a:endParaRPr lang="en-US" dirty="0"/>
              </a:p>
              <a:p>
                <a:pPr marL="457200" indent="-457200">
                  <a:buFont typeface="+mj-lt"/>
                  <a:buAutoNum type="arabicPeriod"/>
                </a:pPr>
                <a:endParaRPr lang="en-US" dirty="0"/>
              </a:p>
            </p:txBody>
          </p:sp>
        </mc:Choice>
        <mc:Fallback xmlns="">
          <p:sp>
            <p:nvSpPr>
              <p:cNvPr id="3" name="Content Placeholder 2">
                <a:extLst>
                  <a:ext uri="{FF2B5EF4-FFF2-40B4-BE49-F238E27FC236}">
                    <a16:creationId xmlns:a16="http://schemas.microsoft.com/office/drawing/2014/main" id="{46D9CE07-6ABB-1767-4232-1882717142E5}"/>
                  </a:ext>
                </a:extLst>
              </p:cNvPr>
              <p:cNvSpPr>
                <a:spLocks noGrp="1" noRot="1" noChangeAspect="1" noMove="1" noResize="1" noEditPoints="1" noAdjustHandles="1" noChangeArrowheads="1" noChangeShapeType="1" noTextEdit="1"/>
              </p:cNvSpPr>
              <p:nvPr>
                <p:ph idx="1"/>
              </p:nvPr>
            </p:nvSpPr>
            <p:spPr>
              <a:xfrm>
                <a:off x="1442267" y="1702731"/>
                <a:ext cx="9605144" cy="4263374"/>
              </a:xfrm>
              <a:blipFill>
                <a:blip r:embed="rId2"/>
                <a:stretch>
                  <a:fillRect l="-952" t="-1571" b="-1286"/>
                </a:stretch>
              </a:blipFill>
            </p:spPr>
            <p:txBody>
              <a:bodyPr/>
              <a:lstStyle/>
              <a:p>
                <a:r>
                  <a:rPr lang="en-US">
                    <a:noFill/>
                  </a:rPr>
                  <a:t> </a:t>
                </a:r>
              </a:p>
            </p:txBody>
          </p:sp>
        </mc:Fallback>
      </mc:AlternateContent>
    </p:spTree>
    <p:extLst>
      <p:ext uri="{BB962C8B-B14F-4D97-AF65-F5344CB8AC3E}">
        <p14:creationId xmlns:p14="http://schemas.microsoft.com/office/powerpoint/2010/main" val="2988473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CE2B3-7F20-EC07-1B39-6E516F3C31CF}"/>
              </a:ext>
            </a:extLst>
          </p:cNvPr>
          <p:cNvSpPr>
            <a:spLocks noGrp="1"/>
          </p:cNvSpPr>
          <p:nvPr>
            <p:ph type="title"/>
          </p:nvPr>
        </p:nvSpPr>
        <p:spPr>
          <a:xfrm>
            <a:off x="1141412" y="128324"/>
            <a:ext cx="9905998" cy="1478570"/>
          </a:xfrm>
        </p:spPr>
        <p:txBody>
          <a:bodyPr/>
          <a:lstStyle/>
          <a:p>
            <a:r>
              <a:rPr lang="en-US" dirty="0"/>
              <a:t>Session keys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6133BBF-FBE3-426B-ABD1-4EFDA75D42BF}"/>
                  </a:ext>
                </a:extLst>
              </p:cNvPr>
              <p:cNvSpPr>
                <a:spLocks noGrp="1"/>
              </p:cNvSpPr>
              <p:nvPr>
                <p:ph idx="1"/>
              </p:nvPr>
            </p:nvSpPr>
            <p:spPr>
              <a:xfrm>
                <a:off x="1141411" y="1353940"/>
                <a:ext cx="9473170" cy="3095512"/>
              </a:xfrm>
            </p:spPr>
            <p:txBody>
              <a:bodyPr>
                <a:normAutofit fontScale="77500" lnSpcReduction="20000"/>
              </a:bodyPr>
              <a:lstStyle/>
              <a:p>
                <a:pPr marL="0" indent="0">
                  <a:buNone/>
                </a:pPr>
                <a:r>
                  <a:rPr lang="en-US" dirty="0"/>
                  <a:t>We note here that the exponentiation required by RSA is a rather time-consuming process. As a result, RSA is often used in practice in combination with symmetric key cryptography. For example, if Alice wants to send Bob a large amount of encrypted data, she could do the following. First Alice chooses a key that will be used to encode the data itself; this key is referred to as a session key, and is denoted by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𝑆</m:t>
                        </m:r>
                      </m:sub>
                    </m:sSub>
                  </m:oMath>
                </a14:m>
                <a:r>
                  <a:rPr lang="en-US" dirty="0"/>
                  <a:t>. Alice must inform Bob of the session key, since this is the shared symmetric key they will use with a symmetric key cipher (e.g., with DES or AES). Alice encrypts the session key using Bob’s public key, that is, computes C = </a:t>
                </a:r>
                <a14:m>
                  <m:oMath xmlns:m="http://schemas.openxmlformats.org/officeDocument/2006/math">
                    <m:sSup>
                      <m:sSupPr>
                        <m:ctrlPr>
                          <a:rPr lang="en-US" i="1" smtClean="0">
                            <a:latin typeface="Cambria Math" panose="02040503050406030204" pitchFamily="18" charset="0"/>
                          </a:rPr>
                        </m:ctrlPr>
                      </m:sSupPr>
                      <m:e>
                        <m:r>
                          <m:rPr>
                            <m:nor/>
                          </m:rPr>
                          <a:rPr lang="en-US" dirty="0"/>
                          <m:t>(</m:t>
                        </m:r>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𝑆</m:t>
                            </m:r>
                          </m:sub>
                        </m:sSub>
                        <m:r>
                          <m:rPr>
                            <m:nor/>
                          </m:rPr>
                          <a:rPr lang="en-US" dirty="0"/>
                          <m:t>)</m:t>
                        </m:r>
                      </m:e>
                      <m:sup>
                        <m:r>
                          <a:rPr lang="en-US" b="0" i="1" smtClean="0">
                            <a:latin typeface="Cambria Math" panose="02040503050406030204" pitchFamily="18" charset="0"/>
                          </a:rPr>
                          <m:t>𝑒</m:t>
                        </m:r>
                      </m:sup>
                    </m:sSup>
                  </m:oMath>
                </a14:m>
                <a:r>
                  <a:rPr lang="en-US" dirty="0"/>
                  <a:t> mod n. Bob receives the RSA-encrypted session key, c, and decrypts it to obtain the session key,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𝑆</m:t>
                        </m:r>
                      </m:sub>
                    </m:sSub>
                  </m:oMath>
                </a14:m>
                <a:r>
                  <a:rPr lang="en-US" dirty="0"/>
                  <a:t>. Bob now knows the session key that Alice will use for her encrypted data transfer.</a:t>
                </a:r>
              </a:p>
            </p:txBody>
          </p:sp>
        </mc:Choice>
        <mc:Fallback>
          <p:sp>
            <p:nvSpPr>
              <p:cNvPr id="3" name="Content Placeholder 2">
                <a:extLst>
                  <a:ext uri="{FF2B5EF4-FFF2-40B4-BE49-F238E27FC236}">
                    <a16:creationId xmlns:a16="http://schemas.microsoft.com/office/drawing/2014/main" id="{F6133BBF-FBE3-426B-ABD1-4EFDA75D42BF}"/>
                  </a:ext>
                </a:extLst>
              </p:cNvPr>
              <p:cNvSpPr>
                <a:spLocks noGrp="1" noRot="1" noChangeAspect="1" noMove="1" noResize="1" noEditPoints="1" noAdjustHandles="1" noChangeArrowheads="1" noChangeShapeType="1" noTextEdit="1"/>
              </p:cNvSpPr>
              <p:nvPr>
                <p:ph idx="1"/>
              </p:nvPr>
            </p:nvSpPr>
            <p:spPr>
              <a:xfrm>
                <a:off x="1141411" y="1353940"/>
                <a:ext cx="9473170" cy="3095512"/>
              </a:xfrm>
              <a:blipFill>
                <a:blip r:embed="rId2"/>
                <a:stretch>
                  <a:fillRect l="-579" t="-1181" r="-386"/>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9716237-A939-BE14-5DAA-EEC7CA5A16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8129" y="4194928"/>
            <a:ext cx="5547841" cy="1546994"/>
          </a:xfrm>
          <a:prstGeom prst="rect">
            <a:avLst/>
          </a:prstGeom>
        </p:spPr>
      </p:pic>
      <p:sp>
        <p:nvSpPr>
          <p:cNvPr id="6" name="TextBox 5">
            <a:extLst>
              <a:ext uri="{FF2B5EF4-FFF2-40B4-BE49-F238E27FC236}">
                <a16:creationId xmlns:a16="http://schemas.microsoft.com/office/drawing/2014/main" id="{1A7E76CE-2A58-9026-01D4-EC49C6523510}"/>
              </a:ext>
            </a:extLst>
          </p:cNvPr>
          <p:cNvSpPr txBox="1"/>
          <p:nvPr/>
        </p:nvSpPr>
        <p:spPr>
          <a:xfrm>
            <a:off x="4213763" y="5891753"/>
            <a:ext cx="3761295" cy="369332"/>
          </a:xfrm>
          <a:prstGeom prst="rect">
            <a:avLst/>
          </a:prstGeom>
          <a:noFill/>
        </p:spPr>
        <p:txBody>
          <a:bodyPr wrap="square" rtlCol="0">
            <a:spAutoFit/>
          </a:bodyPr>
          <a:lstStyle/>
          <a:p>
            <a:r>
              <a:rPr lang="pt-BR" dirty="0"/>
              <a:t>Bob’s RSA decryption, d = 29, n = 35</a:t>
            </a:r>
            <a:endParaRPr lang="en-US" dirty="0"/>
          </a:p>
        </p:txBody>
      </p:sp>
    </p:spTree>
    <p:extLst>
      <p:ext uri="{BB962C8B-B14F-4D97-AF65-F5344CB8AC3E}">
        <p14:creationId xmlns:p14="http://schemas.microsoft.com/office/powerpoint/2010/main" val="3236570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3F343-26CD-0B7F-2D23-3F8FEC5C720C}"/>
              </a:ext>
            </a:extLst>
          </p:cNvPr>
          <p:cNvSpPr>
            <a:spLocks noGrp="1"/>
          </p:cNvSpPr>
          <p:nvPr>
            <p:ph type="title"/>
          </p:nvPr>
        </p:nvSpPr>
        <p:spPr/>
        <p:txBody>
          <a:bodyPr/>
          <a:lstStyle/>
          <a:p>
            <a:r>
              <a:rPr lang="en-US" dirty="0"/>
              <a:t>3. Message Integrity and Digital Signatures</a:t>
            </a:r>
          </a:p>
        </p:txBody>
      </p:sp>
      <p:sp>
        <p:nvSpPr>
          <p:cNvPr id="3" name="Content Placeholder 2">
            <a:extLst>
              <a:ext uri="{FF2B5EF4-FFF2-40B4-BE49-F238E27FC236}">
                <a16:creationId xmlns:a16="http://schemas.microsoft.com/office/drawing/2014/main" id="{A1758CED-377C-AA6C-2ED4-99C86E9A8821}"/>
              </a:ext>
            </a:extLst>
          </p:cNvPr>
          <p:cNvSpPr>
            <a:spLocks noGrp="1"/>
          </p:cNvSpPr>
          <p:nvPr>
            <p:ph idx="1"/>
          </p:nvPr>
        </p:nvSpPr>
        <p:spPr/>
        <p:txBody>
          <a:bodyPr/>
          <a:lstStyle/>
          <a:p>
            <a:pPr marL="0" indent="0">
              <a:buNone/>
            </a:pPr>
            <a:r>
              <a:rPr lang="en-US" dirty="0"/>
              <a:t>We define the message integrity problem using, once again, Alice and Bob. Suppose Bob receives a message (which may be encrypted or may be in plaintext) and he believes this message was sent by Alice. To authenticate this message, Bob needs to verify:</a:t>
            </a:r>
          </a:p>
          <a:p>
            <a:pPr marL="457200" indent="-457200">
              <a:buFont typeface="+mj-lt"/>
              <a:buAutoNum type="arabicPeriod"/>
            </a:pPr>
            <a:r>
              <a:rPr lang="en-US" dirty="0"/>
              <a:t>The message indeed originated from Alice.</a:t>
            </a:r>
          </a:p>
          <a:p>
            <a:pPr marL="457200" indent="-457200">
              <a:buFont typeface="+mj-lt"/>
              <a:buAutoNum type="arabicPeriod"/>
            </a:pPr>
            <a:r>
              <a:rPr lang="en-US" dirty="0"/>
              <a:t>The message was not tampered with on its way to Bob.</a:t>
            </a:r>
          </a:p>
        </p:txBody>
      </p:sp>
    </p:spTree>
    <p:extLst>
      <p:ext uri="{BB962C8B-B14F-4D97-AF65-F5344CB8AC3E}">
        <p14:creationId xmlns:p14="http://schemas.microsoft.com/office/powerpoint/2010/main" val="270888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6AC1F-C47E-3AEE-F753-D85F41E053B5}"/>
              </a:ext>
            </a:extLst>
          </p:cNvPr>
          <p:cNvSpPr>
            <a:spLocks noGrp="1"/>
          </p:cNvSpPr>
          <p:nvPr>
            <p:ph type="title"/>
          </p:nvPr>
        </p:nvSpPr>
        <p:spPr/>
        <p:txBody>
          <a:bodyPr/>
          <a:lstStyle/>
          <a:p>
            <a:r>
              <a:rPr lang="en-US" dirty="0"/>
              <a:t>Message Authentication Code</a:t>
            </a:r>
          </a:p>
        </p:txBody>
      </p:sp>
      <p:sp>
        <p:nvSpPr>
          <p:cNvPr id="3" name="Content Placeholder 2">
            <a:extLst>
              <a:ext uri="{FF2B5EF4-FFF2-40B4-BE49-F238E27FC236}">
                <a16:creationId xmlns:a16="http://schemas.microsoft.com/office/drawing/2014/main" id="{64B020BC-A948-E947-A5AD-E782FB9A96F8}"/>
              </a:ext>
            </a:extLst>
          </p:cNvPr>
          <p:cNvSpPr>
            <a:spLocks noGrp="1"/>
          </p:cNvSpPr>
          <p:nvPr>
            <p:ph idx="1"/>
          </p:nvPr>
        </p:nvSpPr>
        <p:spPr/>
        <p:txBody>
          <a:bodyPr>
            <a:normAutofit fontScale="92500" lnSpcReduction="20000"/>
          </a:bodyPr>
          <a:lstStyle/>
          <a:p>
            <a:pPr marL="0" indent="0">
              <a:buNone/>
            </a:pPr>
            <a:r>
              <a:rPr lang="en-US" dirty="0"/>
              <a:t>The first approach:</a:t>
            </a:r>
          </a:p>
          <a:p>
            <a:pPr marL="457200" indent="-457200">
              <a:buFont typeface="+mj-lt"/>
              <a:buAutoNum type="arabicPeriod"/>
            </a:pPr>
            <a:r>
              <a:rPr lang="en-US" dirty="0"/>
              <a:t>Alice creates message m and calculates the hash H(m) (for example, with SHA-1).</a:t>
            </a:r>
          </a:p>
          <a:p>
            <a:pPr marL="457200" indent="-457200">
              <a:buFont typeface="+mj-lt"/>
              <a:buAutoNum type="arabicPeriod"/>
            </a:pPr>
            <a:r>
              <a:rPr lang="en-US" dirty="0"/>
              <a:t>Alice then appends H(m) to the message m, creating an extended message (m, H(m)), and sends the extended message to Bob.</a:t>
            </a:r>
          </a:p>
          <a:p>
            <a:pPr marL="457200" indent="-457200">
              <a:buFont typeface="+mj-lt"/>
              <a:buAutoNum type="arabicPeriod"/>
            </a:pPr>
            <a:r>
              <a:rPr lang="en-US" dirty="0"/>
              <a:t>Bob receives an extended message (m, h) and calculates H(m). If H(m) = h, Bob concludes that everything is fine.</a:t>
            </a:r>
          </a:p>
          <a:p>
            <a:pPr marL="0" indent="0">
              <a:buNone/>
            </a:pPr>
            <a:endParaRPr lang="en-US" b="1" u="sng" dirty="0"/>
          </a:p>
          <a:p>
            <a:pPr marL="0" indent="0">
              <a:buNone/>
            </a:pPr>
            <a:r>
              <a:rPr lang="en-US" b="1" u="sng" dirty="0"/>
              <a:t>What’s wrong with this approach?</a:t>
            </a:r>
          </a:p>
          <a:p>
            <a:pPr marL="0" indent="0">
              <a:buNone/>
            </a:pPr>
            <a:endParaRPr lang="en-US" b="1" u="sng" dirty="0"/>
          </a:p>
        </p:txBody>
      </p:sp>
    </p:spTree>
    <p:extLst>
      <p:ext uri="{BB962C8B-B14F-4D97-AF65-F5344CB8AC3E}">
        <p14:creationId xmlns:p14="http://schemas.microsoft.com/office/powerpoint/2010/main" val="31499124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F392B-0C99-B114-98C6-D7B07FF9E634}"/>
              </a:ext>
            </a:extLst>
          </p:cNvPr>
          <p:cNvSpPr>
            <a:spLocks noGrp="1"/>
          </p:cNvSpPr>
          <p:nvPr>
            <p:ph type="title"/>
          </p:nvPr>
        </p:nvSpPr>
        <p:spPr/>
        <p:txBody>
          <a:bodyPr/>
          <a:lstStyle/>
          <a:p>
            <a:r>
              <a:rPr lang="en-US" dirty="0"/>
              <a:t>Alternative approach</a:t>
            </a:r>
          </a:p>
        </p:txBody>
      </p:sp>
      <p:sp>
        <p:nvSpPr>
          <p:cNvPr id="3" name="Content Placeholder 2">
            <a:extLst>
              <a:ext uri="{FF2B5EF4-FFF2-40B4-BE49-F238E27FC236}">
                <a16:creationId xmlns:a16="http://schemas.microsoft.com/office/drawing/2014/main" id="{F41D7E82-C5E7-77F4-7145-1AD4D08EA29B}"/>
              </a:ext>
            </a:extLst>
          </p:cNvPr>
          <p:cNvSpPr>
            <a:spLocks noGrp="1"/>
          </p:cNvSpPr>
          <p:nvPr>
            <p:ph idx="1"/>
          </p:nvPr>
        </p:nvSpPr>
        <p:spPr/>
        <p:txBody>
          <a:bodyPr>
            <a:normAutofit fontScale="77500" lnSpcReduction="20000"/>
          </a:bodyPr>
          <a:lstStyle/>
          <a:p>
            <a:pPr marL="0" indent="0">
              <a:buNone/>
            </a:pPr>
            <a:r>
              <a:rPr lang="en-US" dirty="0"/>
              <a:t>To perform message integrity, in addition to using cryptographic hash functions, Alice and Bob will need a shared secret s. This shared secret, which is nothing more than a string of bits, is called the </a:t>
            </a:r>
            <a:r>
              <a:rPr lang="en-US" b="1" dirty="0"/>
              <a:t>authentication key</a:t>
            </a:r>
            <a:r>
              <a:rPr lang="en-US" dirty="0"/>
              <a:t>. Using this shared secret, message integrity can be performed as follows:</a:t>
            </a:r>
          </a:p>
          <a:p>
            <a:pPr marL="457200" indent="-457200">
              <a:buFont typeface="+mj-lt"/>
              <a:buAutoNum type="arabicPeriod"/>
            </a:pPr>
            <a:r>
              <a:rPr lang="en-US" dirty="0"/>
              <a:t>Alice creates message m, concatenates s with m to create m + s, and calculates the hash        H(m + s) (for example, with SHA-1). H(m + s) is called the </a:t>
            </a:r>
            <a:r>
              <a:rPr lang="en-US" b="1" dirty="0"/>
              <a:t>message</a:t>
            </a:r>
            <a:r>
              <a:rPr lang="en-US" dirty="0"/>
              <a:t> </a:t>
            </a:r>
            <a:r>
              <a:rPr lang="en-US" b="1" dirty="0"/>
              <a:t>authentication code (MAC)</a:t>
            </a:r>
            <a:r>
              <a:rPr lang="en-US" dirty="0"/>
              <a:t>.</a:t>
            </a:r>
          </a:p>
          <a:p>
            <a:pPr marL="457200" indent="-457200">
              <a:buFont typeface="+mj-lt"/>
              <a:buAutoNum type="arabicPeriod"/>
            </a:pPr>
            <a:r>
              <a:rPr lang="en-US" dirty="0"/>
              <a:t>Alice then appends the MAC to the message m, creating an extended message (m, H(m + s)), and sends the extended message to Bob.</a:t>
            </a:r>
          </a:p>
          <a:p>
            <a:pPr marL="457200" indent="-457200">
              <a:buFont typeface="+mj-lt"/>
              <a:buAutoNum type="arabicPeriod"/>
            </a:pPr>
            <a:r>
              <a:rPr lang="en-US" dirty="0"/>
              <a:t>Bob receives an extended message (m, h) and knowing s, calculates the MAC H(m + s). If H(m + s) = h, Bob concludes that everything is fine.</a:t>
            </a:r>
          </a:p>
        </p:txBody>
      </p:sp>
    </p:spTree>
    <p:extLst>
      <p:ext uri="{BB962C8B-B14F-4D97-AF65-F5344CB8AC3E}">
        <p14:creationId xmlns:p14="http://schemas.microsoft.com/office/powerpoint/2010/main" val="2670658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68370-E5C6-193B-869F-CF0295040272}"/>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EA27154-A677-0F67-4CBF-5AA79CB1AF3A}"/>
              </a:ext>
            </a:extLst>
          </p:cNvPr>
          <p:cNvSpPr>
            <a:spLocks noGrp="1"/>
          </p:cNvSpPr>
          <p:nvPr>
            <p:ph idx="1"/>
          </p:nvPr>
        </p:nvSpPr>
        <p:spPr/>
        <p:txBody>
          <a:bodyPr>
            <a:normAutofit fontScale="92500" lnSpcReduction="1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As you might expect, a number of different standards for MACs have been pro posed over the years. The most popular standard today is HMAC, which can be used either with MD5 or SHA-1. HMAC actually runs data and the authentication key through the hash function twice</a:t>
            </a:r>
          </a:p>
        </p:txBody>
      </p:sp>
      <p:pic>
        <p:nvPicPr>
          <p:cNvPr id="7" name="Picture 6">
            <a:extLst>
              <a:ext uri="{FF2B5EF4-FFF2-40B4-BE49-F238E27FC236}">
                <a16:creationId xmlns:a16="http://schemas.microsoft.com/office/drawing/2014/main" id="{D243CE0F-0248-7408-D218-47CA43FCB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8403" y="578261"/>
            <a:ext cx="6561329" cy="3037653"/>
          </a:xfrm>
          <a:prstGeom prst="rect">
            <a:avLst/>
          </a:prstGeom>
        </p:spPr>
      </p:pic>
    </p:spTree>
    <p:extLst>
      <p:ext uri="{BB962C8B-B14F-4D97-AF65-F5344CB8AC3E}">
        <p14:creationId xmlns:p14="http://schemas.microsoft.com/office/powerpoint/2010/main" val="32263556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5ABBD-14BE-0665-5E25-7D833944D0C2}"/>
              </a:ext>
            </a:extLst>
          </p:cNvPr>
          <p:cNvSpPr>
            <a:spLocks noGrp="1"/>
          </p:cNvSpPr>
          <p:nvPr>
            <p:ph type="title"/>
          </p:nvPr>
        </p:nvSpPr>
        <p:spPr/>
        <p:txBody>
          <a:bodyPr/>
          <a:lstStyle/>
          <a:p>
            <a:r>
              <a:rPr lang="en-US" dirty="0"/>
              <a:t>Digital signatures</a:t>
            </a:r>
          </a:p>
        </p:txBody>
      </p:sp>
      <p:sp>
        <p:nvSpPr>
          <p:cNvPr id="3" name="Content Placeholder 2">
            <a:extLst>
              <a:ext uri="{FF2B5EF4-FFF2-40B4-BE49-F238E27FC236}">
                <a16:creationId xmlns:a16="http://schemas.microsoft.com/office/drawing/2014/main" id="{6D99BAE3-2255-097C-732A-14108B6892EB}"/>
              </a:ext>
            </a:extLst>
          </p:cNvPr>
          <p:cNvSpPr>
            <a:spLocks noGrp="1"/>
          </p:cNvSpPr>
          <p:nvPr>
            <p:ph idx="1"/>
          </p:nvPr>
        </p:nvSpPr>
        <p:spPr/>
        <p:txBody>
          <a:bodyPr/>
          <a:lstStyle/>
          <a:p>
            <a:r>
              <a:rPr lang="en-US" dirty="0"/>
              <a:t>In a digital world, one often wants to indicate the owner or creator of a document, or to signify one’s agreement with a document’s content. A digital signature is a cryptographic technique for achieving these goals in a digital world.</a:t>
            </a:r>
          </a:p>
          <a:p>
            <a:pPr marL="0" indent="0">
              <a:buNone/>
            </a:pPr>
            <a:endParaRPr lang="en-US" b="1" u="sng" dirty="0"/>
          </a:p>
          <a:p>
            <a:pPr marL="0" indent="0">
              <a:buNone/>
            </a:pPr>
            <a:r>
              <a:rPr lang="en-US" b="1" u="sng" dirty="0"/>
              <a:t>How do we design a digital signature scheme? Is MAC a good choice?</a:t>
            </a:r>
          </a:p>
          <a:p>
            <a:pPr marL="0" indent="0">
              <a:buNone/>
            </a:pPr>
            <a:r>
              <a:rPr lang="en-US" b="1" u="sng" dirty="0"/>
              <a:t>What about public key encryption?</a:t>
            </a:r>
          </a:p>
        </p:txBody>
      </p:sp>
    </p:spTree>
    <p:extLst>
      <p:ext uri="{BB962C8B-B14F-4D97-AF65-F5344CB8AC3E}">
        <p14:creationId xmlns:p14="http://schemas.microsoft.com/office/powerpoint/2010/main" val="61768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AD2EF-1D48-59F8-18FD-C7FF3C873F6E}"/>
              </a:ext>
            </a:extLst>
          </p:cNvPr>
          <p:cNvSpPr>
            <a:spLocks noGrp="1"/>
          </p:cNvSpPr>
          <p:nvPr>
            <p:ph type="title"/>
          </p:nvPr>
        </p:nvSpPr>
        <p:spPr/>
        <p:txBody>
          <a:bodyPr/>
          <a:lstStyle/>
          <a:p>
            <a:r>
              <a:rPr lang="en-US" dirty="0"/>
              <a:t>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C582CEC-5A6D-BEE7-BC40-283E641F6CAF}"/>
                  </a:ext>
                </a:extLst>
              </p:cNvPr>
              <p:cNvSpPr>
                <a:spLocks noGrp="1"/>
              </p:cNvSpPr>
              <p:nvPr>
                <p:ph idx="1"/>
              </p:nvPr>
            </p:nvSpPr>
            <p:spPr>
              <a:xfrm>
                <a:off x="1170879" y="3429000"/>
                <a:ext cx="8568196" cy="2661878"/>
              </a:xfrm>
            </p:spPr>
            <p:txBody>
              <a:bodyPr>
                <a:normAutofit fontScale="85000" lnSpcReduction="20000"/>
              </a:bodyPr>
              <a:lstStyle/>
              <a:p>
                <a:pPr marL="0" indent="0">
                  <a:buNone/>
                </a:pPr>
                <a:r>
                  <a:rPr lang="en-US" dirty="0"/>
                  <a:t>Does the digital signature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(m) meet our requirements of being verifiable and </a:t>
                </a:r>
                <a:r>
                  <a:rPr lang="en-US" dirty="0" err="1"/>
                  <a:t>nonforgeable</a:t>
                </a:r>
                <a:r>
                  <a:rPr lang="en-US" dirty="0"/>
                  <a:t>? Suppose Alice has m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(m). She wants to prove in court (being litigious) that Bob had indeed signed the document and was the only person who could have possibly signed the document. Alice takes Bob’s public key,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b="0" i="1" smtClean="0">
                            <a:latin typeface="Cambria Math" panose="02040503050406030204" pitchFamily="18" charset="0"/>
                          </a:rPr>
                          <m:t>+</m:t>
                        </m:r>
                      </m:sup>
                    </m:sSubSup>
                  </m:oMath>
                </a14:m>
                <a:r>
                  <a:rPr lang="en-US" dirty="0"/>
                  <a:t>, and applies it to the digital signature,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(m) , associated with the document, m. That is, she computes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b="0" i="1" smtClean="0">
                            <a:latin typeface="Cambria Math" panose="02040503050406030204" pitchFamily="18" charset="0"/>
                          </a:rPr>
                          <m:t>+</m:t>
                        </m:r>
                      </m:sup>
                    </m:sSubSup>
                  </m:oMath>
                </a14:m>
                <a:r>
                  <a:rPr lang="en-US" dirty="0"/>
                  <a:t>(</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(m)), and voilà, with a dramatic flurry, she produces m, which exactly matches the original document! Alice then argues that only Bob could have signed the document, for the following reasons:</a:t>
                </a:r>
              </a:p>
            </p:txBody>
          </p:sp>
        </mc:Choice>
        <mc:Fallback>
          <p:sp>
            <p:nvSpPr>
              <p:cNvPr id="3" name="Content Placeholder 2">
                <a:extLst>
                  <a:ext uri="{FF2B5EF4-FFF2-40B4-BE49-F238E27FC236}">
                    <a16:creationId xmlns:a16="http://schemas.microsoft.com/office/drawing/2014/main" id="{3C582CEC-5A6D-BEE7-BC40-283E641F6CAF}"/>
                  </a:ext>
                </a:extLst>
              </p:cNvPr>
              <p:cNvSpPr>
                <a:spLocks noGrp="1" noRot="1" noChangeAspect="1" noMove="1" noResize="1" noEditPoints="1" noAdjustHandles="1" noChangeArrowheads="1" noChangeShapeType="1" noTextEdit="1"/>
              </p:cNvSpPr>
              <p:nvPr>
                <p:ph idx="1"/>
              </p:nvPr>
            </p:nvSpPr>
            <p:spPr>
              <a:xfrm>
                <a:off x="1170879" y="3429000"/>
                <a:ext cx="8568196" cy="2661878"/>
              </a:xfrm>
              <a:blipFill>
                <a:blip r:embed="rId3"/>
                <a:stretch>
                  <a:fillRect l="-711" t="-1376" r="-711"/>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4AF985C3-8E97-796B-E9DB-DFFAF22AEE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4867" y="394021"/>
            <a:ext cx="5540220" cy="2651990"/>
          </a:xfrm>
          <a:prstGeom prst="rect">
            <a:avLst/>
          </a:prstGeom>
        </p:spPr>
      </p:pic>
    </p:spTree>
    <p:extLst>
      <p:ext uri="{BB962C8B-B14F-4D97-AF65-F5344CB8AC3E}">
        <p14:creationId xmlns:p14="http://schemas.microsoft.com/office/powerpoint/2010/main" val="7940104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FCB0-84E0-7383-EB3D-049FA82F49A1}"/>
              </a:ext>
            </a:extLst>
          </p:cNvPr>
          <p:cNvSpPr>
            <a:spLocks noGrp="1"/>
          </p:cNvSpPr>
          <p:nvPr>
            <p:ph type="title"/>
          </p:nvPr>
        </p:nvSpPr>
        <p:spPr/>
        <p:txBody>
          <a:bodyPr/>
          <a:lstStyle/>
          <a:p>
            <a:r>
              <a:rPr lang="en-US" dirty="0"/>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B33205-8558-7216-1FF6-BA4F6580F1A8}"/>
                  </a:ext>
                </a:extLst>
              </p:cNvPr>
              <p:cNvSpPr>
                <a:spLocks noGrp="1"/>
              </p:cNvSpPr>
              <p:nvPr>
                <p:ph idx="1"/>
              </p:nvPr>
            </p:nvSpPr>
            <p:spPr>
              <a:xfrm>
                <a:off x="1141412" y="1853561"/>
                <a:ext cx="9905999" cy="3541714"/>
              </a:xfrm>
            </p:spPr>
            <p:txBody>
              <a:bodyPr>
                <a:normAutofit lnSpcReduction="10000"/>
              </a:bodyPr>
              <a:lstStyle/>
              <a:p>
                <a:r>
                  <a:rPr lang="en-US" dirty="0"/>
                  <a:t>Whoever signed the message must have used the private key,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 , in computing the signature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 , such that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(m)) = m.</a:t>
                </a:r>
              </a:p>
              <a:p>
                <a:r>
                  <a:rPr lang="en-US" dirty="0"/>
                  <a:t>The only person who could have known the private key,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 is Bob. Recall from our discussion of RSA that knowing the public key,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b="0" i="1" smtClean="0">
                            <a:latin typeface="Cambria Math" panose="02040503050406030204" pitchFamily="18" charset="0"/>
                          </a:rPr>
                          <m:t>+</m:t>
                        </m:r>
                      </m:sup>
                    </m:sSubSup>
                  </m:oMath>
                </a14:m>
                <a:r>
                  <a:rPr lang="en-US" dirty="0"/>
                  <a:t>, is of no help in learning the private key,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 Therefore, the only person who could know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 is the person who generated the pair of keys, (</a:t>
                </a:r>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b="0" i="1" smtClean="0">
                            <a:latin typeface="Cambria Math" panose="02040503050406030204" pitchFamily="18" charset="0"/>
                          </a:rPr>
                          <m:t>+</m:t>
                        </m:r>
                      </m:sup>
                    </m:sSubSup>
                  </m:oMath>
                </a14:m>
                <a:r>
                  <a:rPr lang="en-US" dirty="0"/>
                  <a:t> ,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 in the first place, Bob. (Note that this assumes, though, that Bob has not given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 to anyone, nor has anyone stolen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𝐾</m:t>
                        </m:r>
                      </m:e>
                      <m:sub>
                        <m:r>
                          <a:rPr lang="en-US" i="1">
                            <a:latin typeface="Cambria Math" panose="02040503050406030204" pitchFamily="18" charset="0"/>
                          </a:rPr>
                          <m:t>𝐵</m:t>
                        </m:r>
                      </m:sub>
                      <m:sup>
                        <m:r>
                          <a:rPr lang="en-US" i="1">
                            <a:latin typeface="Cambria Math" panose="02040503050406030204" pitchFamily="18" charset="0"/>
                          </a:rPr>
                          <m:t>−</m:t>
                        </m:r>
                      </m:sup>
                    </m:sSubSup>
                  </m:oMath>
                </a14:m>
                <a:r>
                  <a:rPr lang="en-US" dirty="0"/>
                  <a:t> from Bob.)</a:t>
                </a:r>
              </a:p>
            </p:txBody>
          </p:sp>
        </mc:Choice>
        <mc:Fallback xmlns="">
          <p:sp>
            <p:nvSpPr>
              <p:cNvPr id="3" name="Content Placeholder 2">
                <a:extLst>
                  <a:ext uri="{FF2B5EF4-FFF2-40B4-BE49-F238E27FC236}">
                    <a16:creationId xmlns:a16="http://schemas.microsoft.com/office/drawing/2014/main" id="{77B33205-8558-7216-1FF6-BA4F6580F1A8}"/>
                  </a:ext>
                </a:extLst>
              </p:cNvPr>
              <p:cNvSpPr>
                <a:spLocks noGrp="1" noRot="1" noChangeAspect="1" noMove="1" noResize="1" noEditPoints="1" noAdjustHandles="1" noChangeArrowheads="1" noChangeShapeType="1" noTextEdit="1"/>
              </p:cNvSpPr>
              <p:nvPr>
                <p:ph idx="1"/>
              </p:nvPr>
            </p:nvSpPr>
            <p:spPr>
              <a:xfrm>
                <a:off x="1141412" y="1853561"/>
                <a:ext cx="9905999" cy="3541714"/>
              </a:xfrm>
              <a:blipFill>
                <a:blip r:embed="rId3"/>
                <a:stretch>
                  <a:fillRect l="-1231" t="-2926" r="-1723" b="-344"/>
                </a:stretch>
              </a:blipFill>
            </p:spPr>
            <p:txBody>
              <a:bodyPr/>
              <a:lstStyle/>
              <a:p>
                <a:r>
                  <a:rPr lang="en-US">
                    <a:noFill/>
                  </a:rPr>
                  <a:t> </a:t>
                </a:r>
              </a:p>
            </p:txBody>
          </p:sp>
        </mc:Fallback>
      </mc:AlternateContent>
    </p:spTree>
    <p:extLst>
      <p:ext uri="{BB962C8B-B14F-4D97-AF65-F5344CB8AC3E}">
        <p14:creationId xmlns:p14="http://schemas.microsoft.com/office/powerpoint/2010/main" val="4809970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1EF1A-3964-EE76-3E43-06136B22501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69EA48A-D1A2-4E1F-4E39-F49AD9F39938}"/>
              </a:ext>
            </a:extLst>
          </p:cNvPr>
          <p:cNvSpPr>
            <a:spLocks noGrp="1"/>
          </p:cNvSpPr>
          <p:nvPr>
            <p:ph idx="1"/>
          </p:nvPr>
        </p:nvSpPr>
        <p:spPr>
          <a:xfrm>
            <a:off x="2027533" y="514955"/>
            <a:ext cx="7795198" cy="2247099"/>
          </a:xfrm>
        </p:spPr>
        <p:txBody>
          <a:bodyPr>
            <a:normAutofit fontScale="92500"/>
          </a:bodyPr>
          <a:lstStyle/>
          <a:p>
            <a:pPr marL="0" indent="0">
              <a:buNone/>
            </a:pPr>
            <a:r>
              <a:rPr lang="en-US" dirty="0"/>
              <a:t>One concern with signing data by encryption is that encryption and decryption are computationally expensive. Given the overheads of encryption and decryption, signing data via complete encryption/decryption can be overkill. A more efficient approach is to introduce hash functions into the digital signature.</a:t>
            </a:r>
          </a:p>
        </p:txBody>
      </p:sp>
      <p:pic>
        <p:nvPicPr>
          <p:cNvPr id="5" name="Picture 4">
            <a:extLst>
              <a:ext uri="{FF2B5EF4-FFF2-40B4-BE49-F238E27FC236}">
                <a16:creationId xmlns:a16="http://schemas.microsoft.com/office/drawing/2014/main" id="{3661D100-5CB9-1460-66FA-EB37A90760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883" y="2865617"/>
            <a:ext cx="5715268" cy="3477428"/>
          </a:xfrm>
          <a:prstGeom prst="rect">
            <a:avLst/>
          </a:prstGeom>
        </p:spPr>
      </p:pic>
      <p:pic>
        <p:nvPicPr>
          <p:cNvPr id="7" name="Picture 6">
            <a:extLst>
              <a:ext uri="{FF2B5EF4-FFF2-40B4-BE49-F238E27FC236}">
                <a16:creationId xmlns:a16="http://schemas.microsoft.com/office/drawing/2014/main" id="{822BBB19-0CD1-5D5E-D6E6-557698745C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1583" y="2842293"/>
            <a:ext cx="4859534" cy="3500752"/>
          </a:xfrm>
          <a:prstGeom prst="rect">
            <a:avLst/>
          </a:prstGeom>
        </p:spPr>
      </p:pic>
    </p:spTree>
    <p:extLst>
      <p:ext uri="{BB962C8B-B14F-4D97-AF65-F5344CB8AC3E}">
        <p14:creationId xmlns:p14="http://schemas.microsoft.com/office/powerpoint/2010/main" val="3704781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AE357-A751-6DEE-2DDD-C5D58C6FB05E}"/>
              </a:ext>
            </a:extLst>
          </p:cNvPr>
          <p:cNvSpPr>
            <a:spLocks noGrp="1"/>
          </p:cNvSpPr>
          <p:nvPr>
            <p:ph type="title"/>
          </p:nvPr>
        </p:nvSpPr>
        <p:spPr/>
        <p:txBody>
          <a:bodyPr/>
          <a:lstStyle/>
          <a:p>
            <a:r>
              <a:rPr lang="en-US" dirty="0"/>
              <a:t>Public key certification</a:t>
            </a:r>
          </a:p>
        </p:txBody>
      </p:sp>
      <p:sp>
        <p:nvSpPr>
          <p:cNvPr id="3" name="Content Placeholder 2">
            <a:extLst>
              <a:ext uri="{FF2B5EF4-FFF2-40B4-BE49-F238E27FC236}">
                <a16:creationId xmlns:a16="http://schemas.microsoft.com/office/drawing/2014/main" id="{19367B10-1B13-2D74-7B23-9A6A07CB0AA2}"/>
              </a:ext>
            </a:extLst>
          </p:cNvPr>
          <p:cNvSpPr>
            <a:spLocks noGrp="1"/>
          </p:cNvSpPr>
          <p:nvPr>
            <p:ph idx="1"/>
          </p:nvPr>
        </p:nvSpPr>
        <p:spPr/>
        <p:txBody>
          <a:bodyPr>
            <a:normAutofit fontScale="92500"/>
          </a:bodyPr>
          <a:lstStyle/>
          <a:p>
            <a:r>
              <a:rPr lang="en-US" dirty="0"/>
              <a:t>An important application of digital signatures is public key certification, that is, certifying that a public key belongs to a specific entity. Public key certification is used in many popular secure networking protocols like TLS.</a:t>
            </a:r>
          </a:p>
          <a:p>
            <a:pPr marL="0" indent="0">
              <a:buNone/>
            </a:pPr>
            <a:r>
              <a:rPr lang="en-US" b="1" u="sng" dirty="0"/>
              <a:t>AN EXAMPLE</a:t>
            </a:r>
            <a:endParaRPr lang="en-US" dirty="0"/>
          </a:p>
          <a:p>
            <a:r>
              <a:rPr lang="en-US" dirty="0"/>
              <a:t>Alice works in a pizza delivery business and accepts orders and processes them.</a:t>
            </a:r>
          </a:p>
          <a:p>
            <a:r>
              <a:rPr lang="en-US" dirty="0"/>
              <a:t>Bob is a pizza lover and orders his favorite pizza.</a:t>
            </a:r>
          </a:p>
          <a:p>
            <a:r>
              <a:rPr lang="en-US" dirty="0"/>
              <a:t>Trudy is the intruder which seems to be quite a clever one!!.</a:t>
            </a:r>
          </a:p>
        </p:txBody>
      </p:sp>
    </p:spTree>
    <p:extLst>
      <p:ext uri="{BB962C8B-B14F-4D97-AF65-F5344CB8AC3E}">
        <p14:creationId xmlns:p14="http://schemas.microsoft.com/office/powerpoint/2010/main" val="13417718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4C1BA-2A26-FE11-E9D0-9958CC2E350C}"/>
              </a:ext>
            </a:extLst>
          </p:cNvPr>
          <p:cNvSpPr>
            <a:spLocks noGrp="1"/>
          </p:cNvSpPr>
          <p:nvPr>
            <p:ph type="title" idx="4294967295"/>
          </p:nvPr>
        </p:nvSpPr>
        <p:spPr>
          <a:xfrm>
            <a:off x="0" y="619125"/>
            <a:ext cx="9906000" cy="1477963"/>
          </a:xfrm>
        </p:spPr>
        <p:txBody>
          <a:bodyPr/>
          <a:lstStyle/>
          <a:p>
            <a:r>
              <a:rPr lang="en-US" dirty="0"/>
              <a:t> </a:t>
            </a:r>
          </a:p>
        </p:txBody>
      </p:sp>
      <p:pic>
        <p:nvPicPr>
          <p:cNvPr id="5" name="Picture 4">
            <a:extLst>
              <a:ext uri="{FF2B5EF4-FFF2-40B4-BE49-F238E27FC236}">
                <a16:creationId xmlns:a16="http://schemas.microsoft.com/office/drawing/2014/main" id="{8001A87A-5782-DF7E-C3BF-93CBE37DF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5754" y="1196146"/>
            <a:ext cx="6820491" cy="4465707"/>
          </a:xfrm>
          <a:prstGeom prst="rect">
            <a:avLst/>
          </a:prstGeom>
        </p:spPr>
      </p:pic>
    </p:spTree>
    <p:extLst>
      <p:ext uri="{BB962C8B-B14F-4D97-AF65-F5344CB8AC3E}">
        <p14:creationId xmlns:p14="http://schemas.microsoft.com/office/powerpoint/2010/main" val="2768493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50DB0-B1A9-99BE-5A76-3801F7AC9778}"/>
              </a:ext>
            </a:extLst>
          </p:cNvPr>
          <p:cNvSpPr>
            <a:spLocks noGrp="1"/>
          </p:cNvSpPr>
          <p:nvPr>
            <p:ph type="title"/>
          </p:nvPr>
        </p:nvSpPr>
        <p:spPr/>
        <p:txBody>
          <a:bodyPr/>
          <a:lstStyle/>
          <a:p>
            <a:r>
              <a:rPr lang="en-US" dirty="0"/>
              <a:t>certification authority (CA)</a:t>
            </a:r>
          </a:p>
        </p:txBody>
      </p:sp>
      <p:sp>
        <p:nvSpPr>
          <p:cNvPr id="3" name="Content Placeholder 2">
            <a:extLst>
              <a:ext uri="{FF2B5EF4-FFF2-40B4-BE49-F238E27FC236}">
                <a16:creationId xmlns:a16="http://schemas.microsoft.com/office/drawing/2014/main" id="{E837D79C-B271-5523-82FB-660FDC0B737E}"/>
              </a:ext>
            </a:extLst>
          </p:cNvPr>
          <p:cNvSpPr>
            <a:spLocks noGrp="1"/>
          </p:cNvSpPr>
          <p:nvPr>
            <p:ph idx="1"/>
          </p:nvPr>
        </p:nvSpPr>
        <p:spPr>
          <a:xfrm>
            <a:off x="976463" y="2097088"/>
            <a:ext cx="5102277" cy="3717681"/>
          </a:xfrm>
        </p:spPr>
        <p:txBody>
          <a:bodyPr>
            <a:normAutofit fontScale="77500" lnSpcReduction="20000"/>
          </a:bodyPr>
          <a:lstStyle/>
          <a:p>
            <a:r>
              <a:rPr lang="en-US" dirty="0"/>
              <a:t>Binding a public key to a particular entity is typically done by a Certification Authority (CA), whose job is to validate identities and issue certificates.</a:t>
            </a:r>
          </a:p>
          <a:p>
            <a:r>
              <a:rPr lang="en-US" dirty="0"/>
              <a:t>Once the CA verifies the identity of the entity, the CA creates a certificate that binds the public key of the entity to the identity. The certificate contains the public key and globally unique identifying information about the owner of the public key (for example, a human name or an IP address). The certificate is digitally signed by the CA. </a:t>
            </a:r>
          </a:p>
        </p:txBody>
      </p:sp>
      <p:pic>
        <p:nvPicPr>
          <p:cNvPr id="5" name="Picture 4">
            <a:extLst>
              <a:ext uri="{FF2B5EF4-FFF2-40B4-BE49-F238E27FC236}">
                <a16:creationId xmlns:a16="http://schemas.microsoft.com/office/drawing/2014/main" id="{1598310E-9C61-F881-6B04-183CFE8736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6866" y="2285624"/>
            <a:ext cx="4968671" cy="3124471"/>
          </a:xfrm>
          <a:prstGeom prst="rect">
            <a:avLst/>
          </a:prstGeom>
        </p:spPr>
      </p:pic>
    </p:spTree>
    <p:extLst>
      <p:ext uri="{BB962C8B-B14F-4D97-AF65-F5344CB8AC3E}">
        <p14:creationId xmlns:p14="http://schemas.microsoft.com/office/powerpoint/2010/main" val="31747657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1568E-3E86-ADB9-EAD8-3FDFD70054A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F1421A1A-8209-4A4B-3CF0-97101E6367E4}"/>
              </a:ext>
            </a:extLst>
          </p:cNvPr>
          <p:cNvSpPr>
            <a:spLocks noGrp="1"/>
          </p:cNvSpPr>
          <p:nvPr>
            <p:ph idx="1"/>
          </p:nvPr>
        </p:nvSpPr>
        <p:spPr>
          <a:xfrm>
            <a:off x="1141413" y="731772"/>
            <a:ext cx="9905999" cy="3541714"/>
          </a:xfrm>
        </p:spPr>
        <p:txBody>
          <a:bodyPr/>
          <a:lstStyle/>
          <a:p>
            <a:pPr marL="0" indent="0">
              <a:buNone/>
            </a:pPr>
            <a:r>
              <a:rPr lang="en-US" dirty="0"/>
              <a:t>When Bob places his order he also sends his CA-signed certificate. Alice uses the CA’s public key to check the validity of Bob’s certificate and extract Bob’s public key.</a:t>
            </a:r>
          </a:p>
        </p:txBody>
      </p:sp>
      <p:pic>
        <p:nvPicPr>
          <p:cNvPr id="5" name="Picture 4">
            <a:extLst>
              <a:ext uri="{FF2B5EF4-FFF2-40B4-BE49-F238E27FC236}">
                <a16:creationId xmlns:a16="http://schemas.microsoft.com/office/drawing/2014/main" id="{5F02FA49-E02B-37DD-D664-844BC3A245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9271" y="2356339"/>
            <a:ext cx="5970282" cy="3610827"/>
          </a:xfrm>
          <a:prstGeom prst="rect">
            <a:avLst/>
          </a:prstGeom>
        </p:spPr>
      </p:pic>
    </p:spTree>
    <p:extLst>
      <p:ext uri="{BB962C8B-B14F-4D97-AF65-F5344CB8AC3E}">
        <p14:creationId xmlns:p14="http://schemas.microsoft.com/office/powerpoint/2010/main" val="13258189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1_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ppt/theme/themeOverride2.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ppt/theme/themeOverride3.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ppt/theme/themeOverride4.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ppt/theme/themeOverride5.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ppt/theme/themeOverride6.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ppt/theme/themeOverride7.xml><?xml version="1.0" encoding="utf-8"?>
<a:themeOverride xmlns:a="http://schemas.openxmlformats.org/drawingml/2006/main">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themeOverride>
</file>

<file path=ppt/theme/themeOverride8.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9.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10.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11.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12.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13.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14.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15.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16.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17.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18.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ppt/theme/themeOverride19.xml><?xml version="1.0" encoding="utf-8"?>
<a:themeOverride xmlns:a="http://schemas.openxmlformats.org/drawingml/2006/main">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themeOverride>
</file>

<file path=docProps/app.xml><?xml version="1.0" encoding="utf-8"?>
<Properties xmlns="http://schemas.openxmlformats.org/officeDocument/2006/extended-properties" xmlns:vt="http://schemas.openxmlformats.org/officeDocument/2006/docPropsVTypes">
  <Template>TM04033919[[fn=Circuit]]</Template>
  <TotalTime>841</TotalTime>
  <Words>3265</Words>
  <Application>Microsoft Office PowerPoint</Application>
  <PresentationFormat>Widescreen</PresentationFormat>
  <Paragraphs>156</Paragraphs>
  <Slides>38</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38</vt:i4>
      </vt:variant>
    </vt:vector>
  </HeadingPairs>
  <TitlesOfParts>
    <vt:vector size="45" baseType="lpstr">
      <vt:lpstr>Arial</vt:lpstr>
      <vt:lpstr>Calibri</vt:lpstr>
      <vt:lpstr>Cambria Math</vt:lpstr>
      <vt:lpstr>Tw Cen MT</vt:lpstr>
      <vt:lpstr>Wingdings</vt:lpstr>
      <vt:lpstr>Circuit</vt:lpstr>
      <vt:lpstr>1_Circuit</vt:lpstr>
      <vt:lpstr>TLS</vt:lpstr>
      <vt:lpstr>contents</vt:lpstr>
      <vt:lpstr>1. What is network security?</vt:lpstr>
      <vt:lpstr>Principles of network security</vt:lpstr>
      <vt:lpstr>Confidentiality</vt:lpstr>
      <vt:lpstr>Message integrity</vt:lpstr>
      <vt:lpstr>End-point authentication</vt:lpstr>
      <vt:lpstr>Operational security</vt:lpstr>
      <vt:lpstr>Information and actions an intruder can have access to</vt:lpstr>
      <vt:lpstr>1. Principles of cryptography</vt:lpstr>
      <vt:lpstr>Cryptographic expressions</vt:lpstr>
      <vt:lpstr>Symmetric Key Cryptography</vt:lpstr>
      <vt:lpstr>Caeser cipher</vt:lpstr>
      <vt:lpstr>Monoalphabetic cipher</vt:lpstr>
      <vt:lpstr>Polyalphabetic cipher</vt:lpstr>
      <vt:lpstr>EXAMPLE</vt:lpstr>
      <vt:lpstr>Block ciphers</vt:lpstr>
      <vt:lpstr>EXAMPLE</vt:lpstr>
      <vt:lpstr>Problems and limits of full table block ciphers</vt:lpstr>
      <vt:lpstr>THE typical and Alternative approach</vt:lpstr>
      <vt:lpstr>Cipher block chaining</vt:lpstr>
      <vt:lpstr>Add some randomness !!</vt:lpstr>
      <vt:lpstr>even better !!</vt:lpstr>
      <vt:lpstr>Public key encryption</vt:lpstr>
      <vt:lpstr>RSA Obeying PUBLIC ENCRYPTION KEY</vt:lpstr>
      <vt:lpstr>Session keys</vt:lpstr>
      <vt:lpstr>3. Message Integrity and Digital Signatures</vt:lpstr>
      <vt:lpstr>Message Authentication Code</vt:lpstr>
      <vt:lpstr>Alternative approach</vt:lpstr>
      <vt:lpstr> </vt:lpstr>
      <vt:lpstr>Digital signatures</vt:lpstr>
      <vt:lpstr> </vt:lpstr>
      <vt:lpstr> </vt:lpstr>
      <vt:lpstr> </vt:lpstr>
      <vt:lpstr>Public key certification</vt:lpstr>
      <vt:lpstr> </vt:lpstr>
      <vt:lpstr>certification authority (CA)</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dc:creator>
  <cp:lastModifiedBy>pro</cp:lastModifiedBy>
  <cp:revision>10</cp:revision>
  <dcterms:created xsi:type="dcterms:W3CDTF">2026-02-13T17:27:29Z</dcterms:created>
  <dcterms:modified xsi:type="dcterms:W3CDTF">2026-02-16T00:33:20Z</dcterms:modified>
</cp:coreProperties>
</file>